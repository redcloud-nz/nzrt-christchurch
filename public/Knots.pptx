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9.jpg" ContentType="image/jpg"/>
  <Override PartName="/ppt/notesSlides/notesSlide2.xml" ContentType="application/vnd.openxmlformats-officedocument.presentationml.notesSlide+xml"/>
  <Override PartName="/ppt/comments/modernComment_117_DBC20D1B.xml" ContentType="application/vnd.ms-powerpoint.comments+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82" r:id="rId5"/>
    <p:sldId id="269" r:id="rId6"/>
    <p:sldId id="270" r:id="rId7"/>
    <p:sldId id="271" r:id="rId8"/>
    <p:sldId id="272" r:id="rId9"/>
    <p:sldId id="273" r:id="rId10"/>
    <p:sldId id="274" r:id="rId11"/>
    <p:sldId id="275" r:id="rId12"/>
    <p:sldId id="268" r:id="rId13"/>
    <p:sldId id="276" r:id="rId14"/>
    <p:sldId id="277" r:id="rId15"/>
    <p:sldId id="278" r:id="rId16"/>
    <p:sldId id="279" r:id="rId17"/>
    <p:sldId id="280"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D92AA8-4A8C-5031-32EB-CC6A5FE58EC6}" name="Ebony Pike" initials="EP" userId="5655d385db485aa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4661"/>
  </p:normalViewPr>
  <p:slideViewPr>
    <p:cSldViewPr>
      <p:cViewPr>
        <p:scale>
          <a:sx n="94" d="100"/>
          <a:sy n="94" d="100"/>
        </p:scale>
        <p:origin x="1216" y="61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omments/modernComment_117_DBC20D1B.xml><?xml version="1.0" encoding="utf-8"?>
<p188:cmLst xmlns:a="http://schemas.openxmlformats.org/drawingml/2006/main" xmlns:r="http://schemas.openxmlformats.org/officeDocument/2006/relationships" xmlns:p188="http://schemas.microsoft.com/office/powerpoint/2018/8/main">
  <p188:cm id="{375A2A89-B66B-6843-801F-B984748EA391}" authorId="{A5D92AA8-4A8C-5031-32EB-CC6A5FE58EC6}" created="2026-09-25T05:51:00.777">
    <ac:deMkLst xmlns:ac="http://schemas.microsoft.com/office/drawing/2013/main/command">
      <pc:docMk xmlns:pc="http://schemas.microsoft.com/office/powerpoint/2013/main/command"/>
      <pc:sldMk xmlns:pc="http://schemas.microsoft.com/office/powerpoint/2013/main/command" cId="3686927643" sldId="279"/>
      <ac:picMk id="6" creationId="{DA4EC86C-FC34-629C-3B7A-E7BE2FB13CFD}"/>
    </ac:deMkLst>
    <p188:txBody>
      <a:bodyPr/>
      <a:lstStyle/>
      <a:p>
        <a:r>
          <a:rPr lang="en-US"/>
          <a:t>I totally have forgotten how I linked this up</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76A5E-0DEF-41E6-8F5D-6CF5B2D5266D}" type="datetimeFigureOut">
              <a:rPr lang="en-NZ" smtClean="0"/>
              <a:t>25/09/2026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BDA3A-52A2-46A3-AD44-1E07D438D2A0}" type="slidenum">
              <a:rPr lang="en-NZ" smtClean="0"/>
              <a:t>‹#›</a:t>
            </a:fld>
            <a:endParaRPr lang="en-NZ"/>
          </a:p>
        </p:txBody>
      </p:sp>
    </p:spTree>
    <p:extLst>
      <p:ext uri="{BB962C8B-B14F-4D97-AF65-F5344CB8AC3E}">
        <p14:creationId xmlns:p14="http://schemas.microsoft.com/office/powerpoint/2010/main" val="526876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20CBDA3A-52A2-46A3-AD44-1E07D438D2A0}" type="slidenum">
              <a:rPr lang="en-NZ" smtClean="0"/>
              <a:t>9</a:t>
            </a:fld>
            <a:endParaRPr lang="en-NZ"/>
          </a:p>
        </p:txBody>
      </p:sp>
    </p:spTree>
    <p:extLst>
      <p:ext uri="{BB962C8B-B14F-4D97-AF65-F5344CB8AC3E}">
        <p14:creationId xmlns:p14="http://schemas.microsoft.com/office/powerpoint/2010/main" val="85762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9/25/26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9/25/26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9/25/26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9/25/26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9/25/26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9/25/26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9/25/26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masterClrMapping/>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9/25/26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masterClrMapping/>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9/25/26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9/25/26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9/25/26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9/25/26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9/25/26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9/25/26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9/25/26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9/25/26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9/25/26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9/25/26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9/25/26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9/25/26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9/25/26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9/25/26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9/25/26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9/25/26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9/25/26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9/25/26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9/25/26</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9/25/26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9/25/26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9/25/26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9/25/26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9/25/26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9/25/26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9/25/26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2040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9/25/26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 id="2147483802" r:id="rId52"/>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52.xml"/><Relationship Id="rId5" Type="http://schemas.microsoft.com/office/2007/relationships/hdphoto" Target="../media/hdphoto1.wdp"/><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1.jpg"/><Relationship Id="rId1" Type="http://schemas.openxmlformats.org/officeDocument/2006/relationships/slideLayout" Target="../slideLayouts/slideLayout21.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EtzeIQjcKEs?feature=oembed" TargetMode="External"/><Relationship Id="rId6" Type="http://schemas.openxmlformats.org/officeDocument/2006/relationships/image" Target="../media/image15.jpeg"/><Relationship Id="rId5" Type="http://schemas.openxmlformats.org/officeDocument/2006/relationships/image" Target="../media/image1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aLopeVBb7yU?feature=oembed" TargetMode="External"/><Relationship Id="rId6" Type="http://schemas.openxmlformats.org/officeDocument/2006/relationships/image" Target="../media/image16.jpeg"/><Relationship Id="rId5" Type="http://schemas.openxmlformats.org/officeDocument/2006/relationships/image" Target="../media/image12.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w6x-TK6L2Tk?feature=oembed" TargetMode="External"/><Relationship Id="rId6" Type="http://schemas.openxmlformats.org/officeDocument/2006/relationships/image" Target="../media/image17.jpeg"/><Relationship Id="rId5" Type="http://schemas.openxmlformats.org/officeDocument/2006/relationships/image" Target="../media/image1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_DPYEPxtjF0?feature=oembed" TargetMode="External"/><Relationship Id="rId6" Type="http://schemas.openxmlformats.org/officeDocument/2006/relationships/image" Target="../media/image18.jpeg"/><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FqxESYQWTdQ?feature=oembed" TargetMode="External"/><Relationship Id="rId6" Type="http://schemas.openxmlformats.org/officeDocument/2006/relationships/image" Target="../media/image19.jpeg"/><Relationship Id="rId5" Type="http://schemas.openxmlformats.org/officeDocument/2006/relationships/image" Target="../media/image12.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gX1dWKg6Ttc?feature=oembed" TargetMode="External"/><Relationship Id="rId6" Type="http://schemas.openxmlformats.org/officeDocument/2006/relationships/image" Target="../media/image20.jpeg"/><Relationship Id="rId5" Type="http://schemas.openxmlformats.org/officeDocument/2006/relationships/image" Target="../media/image1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media" Target="../media/media2.mp4"/><Relationship Id="rId7" Type="http://schemas.openxmlformats.org/officeDocument/2006/relationships/image" Target="../media/image2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45.xml"/><Relationship Id="rId10" Type="http://schemas.openxmlformats.org/officeDocument/2006/relationships/image" Target="../media/image13.png"/><Relationship Id="rId4" Type="http://schemas.openxmlformats.org/officeDocument/2006/relationships/video" Target="../media/media2.mp4"/><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O6oJwedcb18?feature=oembed" TargetMode="External"/><Relationship Id="rId6" Type="http://schemas.openxmlformats.org/officeDocument/2006/relationships/image" Target="../media/image23.jpeg"/><Relationship Id="rId5"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CP7iAF_YU7A?feature=oembed" TargetMode="External"/><Relationship Id="rId6" Type="http://schemas.openxmlformats.org/officeDocument/2006/relationships/image" Target="../media/image24.jpeg"/><Relationship Id="rId5" Type="http://schemas.openxmlformats.org/officeDocument/2006/relationships/image" Target="../media/image1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7.xml"/><Relationship Id="rId1" Type="http://schemas.openxmlformats.org/officeDocument/2006/relationships/video" Target="https://www.youtube.com/embed/sO20BG1dkb0?feature=oembed" TargetMode="External"/><Relationship Id="rId6" Type="http://schemas.openxmlformats.org/officeDocument/2006/relationships/image" Target="../media/image25.jpeg"/><Relationship Id="rId5" Type="http://schemas.openxmlformats.org/officeDocument/2006/relationships/image" Target="../media/image1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47.xml"/><Relationship Id="rId7"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13.png"/><Relationship Id="rId4" Type="http://schemas.microsoft.com/office/2018/10/relationships/comments" Target="../comments/modernComment_117_DBC20D1B.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knots2/assets/coverphoto.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B2D">
              <a:alpha val="68000"/>
            </a:srgbClr>
          </a:solidFill>
          <a:ln/>
        </p:spPr>
        <p:txBody>
          <a:bodyPr/>
          <a:lstStyle/>
          <a:p>
            <a:endParaRPr lang="en-US"/>
          </a:p>
        </p:txBody>
      </p:sp>
      <p:sp>
        <p:nvSpPr>
          <p:cNvPr id="4" name="Shape 1"/>
          <p:cNvSpPr/>
          <p:nvPr/>
        </p:nvSpPr>
        <p:spPr>
          <a:xfrm>
            <a:off x="0" y="0"/>
            <a:ext cx="6949440" cy="6858000"/>
          </a:xfrm>
          <a:prstGeom prst="rect">
            <a:avLst/>
          </a:prstGeom>
          <a:solidFill>
            <a:srgbClr val="101B2D">
              <a:alpha val="55000"/>
            </a:srgbClr>
          </a:solidFill>
          <a:ln/>
        </p:spPr>
        <p:txBody>
          <a:bodyPr/>
          <a:lstStyle/>
          <a:p>
            <a:endParaRPr lang="en-US"/>
          </a:p>
        </p:txBody>
      </p:sp>
      <p:pic>
        <p:nvPicPr>
          <p:cNvPr id="6" name="Image 1" descr="/home/claude/knots2/assets/cdemlogo_white.png"/>
          <p:cNvPicPr>
            <a:picLocks noChangeAspect="1"/>
          </p:cNvPicPr>
          <p:nvPr/>
        </p:nvPicPr>
        <p:blipFill>
          <a:blip r:embed="rId4">
            <a:lum bright="70000" contrast="-70000"/>
            <a:extLst>
              <a:ext uri="{BEBA8EAE-BF5A-486C-A8C5-ECC9F3942E4B}">
                <a14:imgProps xmlns:a14="http://schemas.microsoft.com/office/drawing/2010/main">
                  <a14:imgLayer r:embed="rId5">
                    <a14:imgEffect>
                      <a14:colorTemperature colorTemp="11200"/>
                    </a14:imgEffect>
                  </a14:imgLayer>
                </a14:imgProps>
              </a:ext>
            </a:extLst>
          </a:blip>
          <a:srcRect/>
          <a:stretch>
            <a:fillRect/>
          </a:stretch>
        </p:blipFill>
        <p:spPr>
          <a:xfrm>
            <a:off x="10577235" y="185032"/>
            <a:ext cx="1387642" cy="1581912"/>
          </a:xfrm>
          <a:prstGeom prst="rect">
            <a:avLst/>
          </a:prstGeom>
        </p:spPr>
      </p:pic>
      <p:sp>
        <p:nvSpPr>
          <p:cNvPr id="7" name="Text 3"/>
          <p:cNvSpPr txBox="1"/>
          <p:nvPr/>
        </p:nvSpPr>
        <p:spPr>
          <a:xfrm>
            <a:off x="777240" y="2331720"/>
            <a:ext cx="7315200" cy="411480"/>
          </a:xfrm>
          <a:prstGeom prst="rect">
            <a:avLst/>
          </a:prstGeom>
          <a:noFill/>
          <a:ln/>
        </p:spPr>
        <p:txBody>
          <a:bodyPr wrap="square" lIns="0" tIns="0" rIns="0" bIns="0" rtlCol="0" anchor="ctr"/>
          <a:lstStyle/>
          <a:p>
            <a:pPr marL="0" indent="0">
              <a:buNone/>
            </a:pPr>
            <a:r>
              <a:rPr lang="en-US" sz="1500" b="1" kern="0" spc="400" dirty="0">
                <a:solidFill>
                  <a:srgbClr val="C00000"/>
                </a:solidFill>
                <a:latin typeface="Calibri" pitchFamily="34" charset="0"/>
                <a:ea typeface="Calibri" pitchFamily="34" charset="-122"/>
                <a:cs typeface="Calibri" pitchFamily="34" charset="-120"/>
              </a:rPr>
              <a:t>REFERENCE GUIDE</a:t>
            </a:r>
            <a:endParaRPr lang="en-US" sz="1500" dirty="0">
              <a:solidFill>
                <a:srgbClr val="C00000"/>
              </a:solidFill>
            </a:endParaRPr>
          </a:p>
        </p:txBody>
      </p:sp>
      <p:sp>
        <p:nvSpPr>
          <p:cNvPr id="8" name="Text 4"/>
          <p:cNvSpPr txBox="1"/>
          <p:nvPr/>
        </p:nvSpPr>
        <p:spPr>
          <a:xfrm>
            <a:off x="731520" y="2697480"/>
            <a:ext cx="9601200" cy="1371600"/>
          </a:xfrm>
          <a:prstGeom prst="rect">
            <a:avLst/>
          </a:prstGeom>
          <a:noFill/>
          <a:ln/>
        </p:spPr>
        <p:txBody>
          <a:bodyPr wrap="square" lIns="0" tIns="0" rIns="0" bIns="0" rtlCol="0" anchor="ctr"/>
          <a:lstStyle/>
          <a:p>
            <a:pPr marL="0" indent="0">
              <a:buNone/>
            </a:pPr>
            <a:r>
              <a:rPr lang="en-US" sz="7036" b="1" spc="175" dirty="0">
                <a:solidFill>
                  <a:schemeClr val="bg1"/>
                </a:solidFill>
                <a:latin typeface="Bebas Neue Bold"/>
              </a:rPr>
              <a:t>MANUAL ON </a:t>
            </a:r>
            <a:r>
              <a:rPr lang="en-US" sz="7036" b="1" spc="175" dirty="0">
                <a:solidFill>
                  <a:srgbClr val="C00000"/>
                </a:solidFill>
                <a:latin typeface="Bebas Neue Bold"/>
              </a:rPr>
              <a:t>KNOTS</a:t>
            </a:r>
          </a:p>
        </p:txBody>
      </p:sp>
      <p:sp>
        <p:nvSpPr>
          <p:cNvPr id="9" name="Shape 5"/>
          <p:cNvSpPr/>
          <p:nvPr/>
        </p:nvSpPr>
        <p:spPr>
          <a:xfrm>
            <a:off x="777240" y="3886200"/>
            <a:ext cx="2743200" cy="0"/>
          </a:xfrm>
          <a:prstGeom prst="line">
            <a:avLst/>
          </a:prstGeom>
          <a:noFill/>
          <a:ln w="25400">
            <a:solidFill>
              <a:srgbClr val="C00000"/>
            </a:solidFill>
            <a:prstDash val="solid"/>
          </a:ln>
        </p:spPr>
        <p:txBody>
          <a:bodyPr/>
          <a:lstStyle/>
          <a:p>
            <a:endParaRPr lang="en-US"/>
          </a:p>
        </p:txBody>
      </p:sp>
      <p:sp>
        <p:nvSpPr>
          <p:cNvPr id="10" name="Text 6"/>
          <p:cNvSpPr txBox="1"/>
          <p:nvPr/>
        </p:nvSpPr>
        <p:spPr>
          <a:xfrm>
            <a:off x="777240" y="4069080"/>
            <a:ext cx="822960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CDEM Response Team NZ-RT11</a:t>
            </a:r>
            <a:endParaRPr lang="en-US" sz="1900" dirty="0"/>
          </a:p>
        </p:txBody>
      </p:sp>
      <p:sp>
        <p:nvSpPr>
          <p:cNvPr id="12" name="Text 8"/>
          <p:cNvSpPr txBox="1"/>
          <p:nvPr/>
        </p:nvSpPr>
        <p:spPr>
          <a:xfrm>
            <a:off x="777240" y="6172200"/>
            <a:ext cx="5486400" cy="365760"/>
          </a:xfrm>
          <a:prstGeom prst="rect">
            <a:avLst/>
          </a:prstGeom>
          <a:noFill/>
          <a:ln/>
        </p:spPr>
        <p:txBody>
          <a:bodyPr wrap="square" lIns="0" tIns="0" rIns="0" bIns="0" rtlCol="0" anchor="ctr"/>
          <a:lstStyle/>
          <a:p>
            <a:pPr marL="0" indent="0">
              <a:buNone/>
            </a:pPr>
            <a:r>
              <a:rPr lang="en-US" sz="1100" dirty="0">
                <a:solidFill>
                  <a:schemeClr val="bg1">
                    <a:lumMod val="95000"/>
                  </a:schemeClr>
                </a:solidFill>
                <a:latin typeface="Calibri" pitchFamily="34" charset="0"/>
                <a:ea typeface="Calibri" pitchFamily="34" charset="-122"/>
                <a:cs typeface="Calibri" pitchFamily="34" charset="-120"/>
              </a:rPr>
              <a:t>Version 1.0</a:t>
            </a:r>
            <a:endParaRPr lang="en-US" sz="1100" dirty="0">
              <a:solidFill>
                <a:schemeClr val="bg1">
                  <a:lumMod val="9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2B5532CC-8BB9-BE2F-D0C3-3F1492C5C38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0926" r="10926"/>
          <a:stretch>
            <a:fillRect/>
          </a:stretch>
        </p:blipFill>
        <p:spPr>
          <a:prstGeom prst="rect">
            <a:avLst/>
          </a:prstGeom>
          <a:blipFill>
            <a:blip r:embed="rId3">
              <a:alphaModFix amt="70000"/>
            </a:blip>
            <a:stretch>
              <a:fillRect/>
            </a:stretch>
          </a:blipFill>
        </p:spPr>
      </p:pic>
      <p:sp>
        <p:nvSpPr>
          <p:cNvPr id="7" name="Content Placeholder 6">
            <a:extLst>
              <a:ext uri="{FF2B5EF4-FFF2-40B4-BE49-F238E27FC236}">
                <a16:creationId xmlns:a16="http://schemas.microsoft.com/office/drawing/2014/main" id="{CD7FB50F-CFBC-003B-D516-E4A0B43C9A60}"/>
              </a:ext>
            </a:extLst>
          </p:cNvPr>
          <p:cNvSpPr>
            <a:spLocks noGrp="1"/>
          </p:cNvSpPr>
          <p:nvPr>
            <p:ph sz="quarter" idx="14"/>
          </p:nvPr>
        </p:nvSpPr>
        <p:spPr>
          <a:xfrm>
            <a:off x="4541264" y="1844824"/>
            <a:ext cx="7062472" cy="4519399"/>
          </a:xfrm>
        </p:spPr>
        <p:txBody>
          <a:bodyPr>
            <a:normAutofit fontScale="92500" lnSpcReduction="10000"/>
          </a:bodyPr>
          <a:lstStyle/>
          <a:p>
            <a:r>
              <a:rPr lang="en-NZ" dirty="0">
                <a:latin typeface="Roboto" panose="02000000000000000000" pitchFamily="2" charset="0"/>
                <a:ea typeface="Roboto" panose="02000000000000000000" pitchFamily="2" charset="0"/>
                <a:cs typeface="Roboto" panose="02000000000000000000" pitchFamily="2" charset="0"/>
              </a:rPr>
              <a:t>Figure 8 Knot</a:t>
            </a:r>
          </a:p>
          <a:p>
            <a:r>
              <a:rPr lang="en-NZ" dirty="0">
                <a:latin typeface="Roboto" panose="02000000000000000000" pitchFamily="2" charset="0"/>
                <a:ea typeface="Roboto" panose="02000000000000000000" pitchFamily="2" charset="0"/>
                <a:cs typeface="Roboto" panose="02000000000000000000" pitchFamily="2" charset="0"/>
              </a:rPr>
              <a:t>Figure 8 (on a Bight)</a:t>
            </a:r>
          </a:p>
          <a:p>
            <a:r>
              <a:rPr lang="en-NZ" dirty="0">
                <a:latin typeface="Roboto" panose="02000000000000000000" pitchFamily="2" charset="0"/>
                <a:ea typeface="Roboto" panose="02000000000000000000" pitchFamily="2" charset="0"/>
                <a:cs typeface="Roboto" panose="02000000000000000000" pitchFamily="2" charset="0"/>
              </a:rPr>
              <a:t>Rethreaded Figure 8</a:t>
            </a:r>
          </a:p>
          <a:p>
            <a:r>
              <a:rPr lang="en-NZ" dirty="0">
                <a:latin typeface="Roboto" panose="02000000000000000000" pitchFamily="2" charset="0"/>
                <a:ea typeface="Roboto" panose="02000000000000000000" pitchFamily="2" charset="0"/>
                <a:cs typeface="Roboto" panose="02000000000000000000" pitchFamily="2" charset="0"/>
              </a:rPr>
              <a:t>Joining Figure 8</a:t>
            </a:r>
          </a:p>
          <a:p>
            <a:r>
              <a:rPr lang="en-NZ" dirty="0">
                <a:latin typeface="Roboto" panose="02000000000000000000" pitchFamily="2" charset="0"/>
                <a:ea typeface="Roboto" panose="02000000000000000000" pitchFamily="2" charset="0"/>
                <a:cs typeface="Roboto" panose="02000000000000000000" pitchFamily="2" charset="0"/>
              </a:rPr>
              <a:t>Industrial Figure 8</a:t>
            </a:r>
          </a:p>
          <a:p>
            <a:r>
              <a:rPr lang="en-NZ" dirty="0">
                <a:latin typeface="Roboto" panose="02000000000000000000" pitchFamily="2" charset="0"/>
                <a:ea typeface="Roboto" panose="02000000000000000000" pitchFamily="2" charset="0"/>
                <a:cs typeface="Roboto" panose="02000000000000000000" pitchFamily="2" charset="0"/>
              </a:rPr>
              <a:t>Round Turn &amp; Two Half Hitches</a:t>
            </a:r>
          </a:p>
          <a:p>
            <a:r>
              <a:rPr lang="en-NZ" dirty="0">
                <a:latin typeface="Roboto" panose="02000000000000000000" pitchFamily="2" charset="0"/>
                <a:ea typeface="Roboto" panose="02000000000000000000" pitchFamily="2" charset="0"/>
                <a:cs typeface="Roboto" panose="02000000000000000000" pitchFamily="2" charset="0"/>
              </a:rPr>
              <a:t>Alpine Butterfly</a:t>
            </a:r>
          </a:p>
          <a:p>
            <a:r>
              <a:rPr lang="en-NZ" dirty="0">
                <a:latin typeface="Roboto" panose="02000000000000000000" pitchFamily="2" charset="0"/>
                <a:ea typeface="Roboto" panose="02000000000000000000" pitchFamily="2" charset="0"/>
                <a:cs typeface="Roboto" panose="02000000000000000000" pitchFamily="2" charset="0"/>
              </a:rPr>
              <a:t>Alpine Butterfly (Alternative tying Methods)</a:t>
            </a:r>
          </a:p>
          <a:p>
            <a:r>
              <a:rPr lang="en-NZ" dirty="0">
                <a:latin typeface="Roboto" panose="02000000000000000000" pitchFamily="2" charset="0"/>
                <a:ea typeface="Roboto" panose="02000000000000000000" pitchFamily="2" charset="0"/>
                <a:cs typeface="Roboto" panose="02000000000000000000" pitchFamily="2" charset="0"/>
              </a:rPr>
              <a:t>Double Fisherman’s Bend</a:t>
            </a:r>
          </a:p>
          <a:p>
            <a:r>
              <a:rPr lang="en-NZ" dirty="0">
                <a:latin typeface="Roboto" panose="02000000000000000000" pitchFamily="2" charset="0"/>
                <a:ea typeface="Roboto" panose="02000000000000000000" pitchFamily="2" charset="0"/>
                <a:cs typeface="Roboto" panose="02000000000000000000" pitchFamily="2" charset="0"/>
              </a:rPr>
              <a:t>Prussik Knot</a:t>
            </a:r>
          </a:p>
          <a:p>
            <a:r>
              <a:rPr lang="en-NZ" dirty="0">
                <a:latin typeface="Roboto" panose="02000000000000000000" pitchFamily="2" charset="0"/>
                <a:ea typeface="Roboto" panose="02000000000000000000" pitchFamily="2" charset="0"/>
                <a:cs typeface="Roboto" panose="02000000000000000000" pitchFamily="2" charset="0"/>
              </a:rPr>
              <a:t>Tape Knot</a:t>
            </a:r>
          </a:p>
          <a:p>
            <a:r>
              <a:rPr lang="en-NZ" dirty="0">
                <a:latin typeface="Roboto" panose="02000000000000000000" pitchFamily="2" charset="0"/>
                <a:ea typeface="Roboto" panose="02000000000000000000" pitchFamily="2" charset="0"/>
                <a:cs typeface="Roboto" panose="02000000000000000000" pitchFamily="2" charset="0"/>
              </a:rPr>
              <a:t>Munter Hitch</a:t>
            </a:r>
          </a:p>
          <a:p>
            <a:r>
              <a:rPr lang="en-NZ" dirty="0">
                <a:latin typeface="Roboto" panose="02000000000000000000" pitchFamily="2" charset="0"/>
                <a:ea typeface="Roboto" panose="02000000000000000000" pitchFamily="2" charset="0"/>
                <a:cs typeface="Roboto" panose="02000000000000000000" pitchFamily="2" charset="0"/>
              </a:rPr>
              <a:t>Vertical Lift Knot</a:t>
            </a:r>
          </a:p>
          <a:p>
            <a:endParaRPr lang="en-NZ" dirty="0">
              <a:latin typeface="Roboto" panose="02000000000000000000" pitchFamily="2" charset="0"/>
              <a:ea typeface="Roboto" panose="02000000000000000000" pitchFamily="2" charset="0"/>
              <a:cs typeface="Roboto" panose="02000000000000000000" pitchFamily="2" charset="0"/>
            </a:endParaRPr>
          </a:p>
        </p:txBody>
      </p:sp>
      <p:pic>
        <p:nvPicPr>
          <p:cNvPr id="9" name="Picture 8" descr="New Zealand Response Teams (NZ-RTs) » National Emergency Management Agency">
            <a:extLst>
              <a:ext uri="{FF2B5EF4-FFF2-40B4-BE49-F238E27FC236}">
                <a16:creationId xmlns:a16="http://schemas.microsoft.com/office/drawing/2014/main" id="{E92AA34E-BC19-4DD7-A541-D745AFF85397}"/>
              </a:ext>
            </a:extLst>
          </p:cNvPr>
          <p:cNvPicPr>
            <a:picLocks noChangeAspect="1"/>
          </p:cNvPicPr>
          <p:nvPr/>
        </p:nvPicPr>
        <p:blipFill>
          <a:blip r:embed="rId4"/>
          <a:stretch>
            <a:fillRect/>
          </a:stretch>
        </p:blipFill>
        <p:spPr>
          <a:xfrm>
            <a:off x="10828283" y="143879"/>
            <a:ext cx="1080120" cy="1234938"/>
          </a:xfrm>
          <a:prstGeom prst="rect">
            <a:avLst/>
          </a:prstGeom>
        </p:spPr>
      </p:pic>
      <p:sp>
        <p:nvSpPr>
          <p:cNvPr id="2" name="TextBox 3">
            <a:extLst>
              <a:ext uri="{FF2B5EF4-FFF2-40B4-BE49-F238E27FC236}">
                <a16:creationId xmlns:a16="http://schemas.microsoft.com/office/drawing/2014/main" id="{F1C136D9-46FC-74CB-EE4C-06452368CBF4}"/>
              </a:ext>
            </a:extLst>
          </p:cNvPr>
          <p:cNvSpPr txBox="1"/>
          <p:nvPr/>
        </p:nvSpPr>
        <p:spPr>
          <a:xfrm>
            <a:off x="4606465" y="620688"/>
            <a:ext cx="5367912" cy="815288"/>
          </a:xfrm>
          <a:prstGeom prst="rect">
            <a:avLst/>
          </a:prstGeom>
        </p:spPr>
        <p:txBody>
          <a:bodyPr wrap="square" lIns="0" tIns="0" rIns="0" bIns="0" rtlCol="0" anchor="t">
            <a:spAutoFit/>
          </a:bodyPr>
          <a:lstStyle/>
          <a:p>
            <a:pPr>
              <a:lnSpc>
                <a:spcPts val="5981"/>
              </a:lnSpc>
            </a:pPr>
            <a:r>
              <a:rPr lang="en-US" sz="7036" b="1" spc="175" dirty="0">
                <a:solidFill>
                  <a:srgbClr val="001124"/>
                </a:solidFill>
                <a:latin typeface="Bebas Neue Bold"/>
                <a:ea typeface="Bebas Neue Bold"/>
                <a:cs typeface="Bebas Neue Bold"/>
                <a:sym typeface="Bebas Neue Bold"/>
              </a:rPr>
              <a:t>CONTENTS</a:t>
            </a:r>
          </a:p>
        </p:txBody>
      </p:sp>
      <p:sp>
        <p:nvSpPr>
          <p:cNvPr id="4" name="Freeform 4">
            <a:extLst>
              <a:ext uri="{FF2B5EF4-FFF2-40B4-BE49-F238E27FC236}">
                <a16:creationId xmlns:a16="http://schemas.microsoft.com/office/drawing/2014/main" id="{FD92AB17-FAF4-8D28-8A33-ECD29F83733B}"/>
              </a:ext>
            </a:extLst>
          </p:cNvPr>
          <p:cNvSpPr/>
          <p:nvPr/>
        </p:nvSpPr>
        <p:spPr>
          <a:xfrm>
            <a:off x="4541264" y="1265273"/>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5"/>
            <a:stretch>
              <a:fillRect/>
            </a:stretch>
          </a:blipFill>
        </p:spPr>
        <p:txBody>
          <a:bodyPr/>
          <a:lstStyle/>
          <a:p>
            <a:endParaRPr lang="en-US" sz="1200"/>
          </a:p>
        </p:txBody>
      </p:sp>
    </p:spTree>
    <p:extLst>
      <p:ext uri="{BB962C8B-B14F-4D97-AF65-F5344CB8AC3E}">
        <p14:creationId xmlns:p14="http://schemas.microsoft.com/office/powerpoint/2010/main" val="2015540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12064" y="843174"/>
            <a:ext cx="5367912" cy="1584729"/>
          </a:xfrm>
          <a:prstGeom prst="rect">
            <a:avLst/>
          </a:prstGeom>
        </p:spPr>
        <p:txBody>
          <a:bodyPr wrap="square" lIns="0" tIns="0" rIns="0" bIns="0" rtlCol="0" anchor="t">
            <a:spAutoFit/>
          </a:bodyPr>
          <a:lstStyle/>
          <a:p>
            <a:pPr>
              <a:lnSpc>
                <a:spcPts val="5981"/>
              </a:lnSpc>
            </a:pPr>
            <a:r>
              <a:rPr lang="en-US" sz="7036" b="1" spc="175" dirty="0">
                <a:solidFill>
                  <a:srgbClr val="001124"/>
                </a:solidFill>
                <a:latin typeface="Bebas Neue Bold"/>
                <a:ea typeface="Bebas Neue Bold"/>
                <a:cs typeface="Bebas Neue Bold"/>
                <a:sym typeface="Bebas Neue Bold"/>
              </a:rPr>
              <a:t>FIGURE 8 KNOT</a:t>
            </a:r>
          </a:p>
        </p:txBody>
      </p:sp>
      <p:sp>
        <p:nvSpPr>
          <p:cNvPr id="4" name="Freeform 4"/>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p:cNvSpPr txBox="1"/>
          <p:nvPr/>
        </p:nvSpPr>
        <p:spPr>
          <a:xfrm>
            <a:off x="536448" y="2670547"/>
            <a:ext cx="4911480" cy="2204706"/>
          </a:xfrm>
          <a:prstGeom prst="rect">
            <a:avLst/>
          </a:prstGeom>
        </p:spPr>
        <p:txBody>
          <a:bodyPr wrap="square" lIns="0" tIns="0" rIns="0" bIns="0" rtlCol="0" anchor="t">
            <a:spAutoFit/>
          </a:bodyPr>
          <a:lstStyle/>
          <a:p>
            <a:pPr marL="228600" indent="-22860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The standard stopper and end-of-line knot in kernmantle rope. Stops a rope end running through a pulley or fraying and is the base shape every other knot in this section builds from. Easier to untie than a plain thumb knot after loading.</a:t>
            </a:r>
          </a:p>
          <a:p>
            <a:pPr marL="228600" indent="-22860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Cons:</a:t>
            </a:r>
            <a:r>
              <a:rPr lang="en-NZ" sz="1400" dirty="0">
                <a:latin typeface="Roboto" panose="02000000000000000000" pitchFamily="2" charset="0"/>
                <a:ea typeface="Roboto" panose="02000000000000000000" pitchFamily="2" charset="0"/>
                <a:cs typeface="Roboto" panose="02000000000000000000" pitchFamily="2" charset="0"/>
              </a:rPr>
              <a:t> </a:t>
            </a:r>
            <a:r>
              <a:rPr lang="en-US" sz="1400" dirty="0">
                <a:latin typeface="Roboto" panose="02000000000000000000" pitchFamily="2" charset="0"/>
                <a:ea typeface="Roboto" panose="02000000000000000000" pitchFamily="2" charset="0"/>
                <a:cs typeface="Roboto" panose="02000000000000000000" pitchFamily="2" charset="0"/>
              </a:rPr>
              <a:t>The Figure 8 Knot can fall undone and then has to be retied.</a:t>
            </a:r>
            <a:endParaRPr lang="en-NZ" sz="1400" dirty="0">
              <a:latin typeface="Roboto" panose="02000000000000000000" pitchFamily="2" charset="0"/>
              <a:ea typeface="Roboto" panose="02000000000000000000" pitchFamily="2" charset="0"/>
              <a:cs typeface="Roboto" panose="02000000000000000000" pitchFamily="2" charset="0"/>
            </a:endParaRP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Stopper knot</a:t>
            </a: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End-of-line knot</a:t>
            </a:r>
          </a:p>
        </p:txBody>
      </p:sp>
      <p:sp>
        <p:nvSpPr>
          <p:cNvPr id="9" name="Freeform 9"/>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LOOP</a:t>
            </a:r>
          </a:p>
        </p:txBody>
      </p:sp>
      <p:pic>
        <p:nvPicPr>
          <p:cNvPr id="13" name="Picture 12" descr="New Zealand Response Teams (NZ-RTs) » National Emergency Management Agency">
            <a:extLst>
              <a:ext uri="{FF2B5EF4-FFF2-40B4-BE49-F238E27FC236}">
                <a16:creationId xmlns:a16="http://schemas.microsoft.com/office/drawing/2014/main" id="{B2BF25DE-7F90-4685-A842-3490A3A3EEE2}"/>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14" name="TextBox 13">
            <a:extLst>
              <a:ext uri="{FF2B5EF4-FFF2-40B4-BE49-F238E27FC236}">
                <a16:creationId xmlns:a16="http://schemas.microsoft.com/office/drawing/2014/main" id="{1107F4FF-EF01-10F6-8814-74D4A824C980}"/>
              </a:ext>
            </a:extLst>
          </p:cNvPr>
          <p:cNvSpPr txBox="1"/>
          <p:nvPr/>
        </p:nvSpPr>
        <p:spPr>
          <a:xfrm>
            <a:off x="5960945" y="5664605"/>
            <a:ext cx="5883275" cy="400110"/>
          </a:xfrm>
          <a:prstGeom prst="rect">
            <a:avLst/>
          </a:prstGeom>
          <a:noFill/>
        </p:spPr>
        <p:txBody>
          <a:bodyPr wrap="square" rtlCol="0">
            <a:spAutoFit/>
          </a:bodyPr>
          <a:lstStyle/>
          <a:p>
            <a:r>
              <a:rPr lang="en-NZ" sz="1000" b="1" dirty="0"/>
              <a:t>Credit: </a:t>
            </a:r>
            <a:r>
              <a:rPr lang="en-NZ" sz="1000" i="1" dirty="0"/>
              <a:t>Figure 8 Knot | How to tie a Figure 8 Knot using Step-by-Step Animations | Animated Knots by Grog</a:t>
            </a:r>
            <a:r>
              <a:rPr lang="en-NZ" sz="1000" dirty="0"/>
              <a:t>. (2019, May 14). Animated Knots by Grog. https://www.animatedknots.com/figure-8-knot.</a:t>
            </a:r>
          </a:p>
        </p:txBody>
      </p:sp>
      <p:pic>
        <p:nvPicPr>
          <p:cNvPr id="15" name="Online Media 11" title="How to Tie a Figure 8 Knot">
            <a:hlinkClick r:id="" action="ppaction://media"/>
            <a:extLst>
              <a:ext uri="{FF2B5EF4-FFF2-40B4-BE49-F238E27FC236}">
                <a16:creationId xmlns:a16="http://schemas.microsoft.com/office/drawing/2014/main" id="{0DA6506C-BB2A-21E7-9CBF-BADB02F8A237}"/>
              </a:ext>
            </a:extLst>
          </p:cNvPr>
          <p:cNvPicPr>
            <a:picLocks noRot="1" noChangeAspect="1"/>
          </p:cNvPicPr>
          <p:nvPr>
            <a:videoFile r:link="rId1"/>
          </p:nvPr>
        </p:nvPicPr>
        <p:blipFill>
          <a:blip r:embed="rId6"/>
          <a:stretch>
            <a:fillRect/>
          </a:stretch>
        </p:blipFill>
        <p:spPr>
          <a:xfrm>
            <a:off x="5961820" y="1916832"/>
            <a:ext cx="5882400" cy="33235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5"/>
                                        </p:tgtEl>
                                      </p:cBhvr>
                                    </p:cmd>
                                  </p:childTnLst>
                                </p:cTn>
                              </p:par>
                            </p:childTnLst>
                          </p:cTn>
                        </p:par>
                      </p:childTnLst>
                    </p:cTn>
                  </p:par>
                </p:childTnLst>
              </p:cTn>
              <p:nextCondLst>
                <p:cond evt="onClick" delay="0">
                  <p:tgtEl>
                    <p:spTgt spid="15"/>
                  </p:tgtEl>
                </p:cond>
              </p:nextCondLst>
            </p:seq>
            <p:video>
              <p:cMediaNode vol="80000">
                <p:cTn id="12" fill="hold" display="0">
                  <p:stCondLst>
                    <p:cond delay="indefinite"/>
                  </p:stCondLst>
                </p:cTn>
                <p:tgtEl>
                  <p:spTgt spid="1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7817D-B111-3A2E-A7AD-078CAAD7EB4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5105837-036C-0BE9-3C36-95CD9AA9D751}"/>
              </a:ext>
            </a:extLst>
          </p:cNvPr>
          <p:cNvSpPr txBox="1"/>
          <p:nvPr/>
        </p:nvSpPr>
        <p:spPr>
          <a:xfrm>
            <a:off x="512064" y="843174"/>
            <a:ext cx="5367912" cy="1584729"/>
          </a:xfrm>
          <a:prstGeom prst="rect">
            <a:avLst/>
          </a:prstGeom>
        </p:spPr>
        <p:txBody>
          <a:bodyPr wrap="square" lIns="0" tIns="0" rIns="0" bIns="0" rtlCol="0" anchor="t">
            <a:spAutoFit/>
          </a:bodyPr>
          <a:lstStyle/>
          <a:p>
            <a:pPr>
              <a:lnSpc>
                <a:spcPts val="5981"/>
              </a:lnSpc>
            </a:pPr>
            <a:r>
              <a:rPr lang="en-US" sz="7036" b="1" spc="175" dirty="0">
                <a:solidFill>
                  <a:srgbClr val="001124"/>
                </a:solidFill>
                <a:latin typeface="Bebas Neue Bold"/>
                <a:ea typeface="Bebas Neue Bold"/>
                <a:cs typeface="Bebas Neue Bold"/>
                <a:sym typeface="Bebas Neue Bold"/>
              </a:rPr>
              <a:t>RETHREADED FIGURE 8</a:t>
            </a:r>
          </a:p>
        </p:txBody>
      </p:sp>
      <p:sp>
        <p:nvSpPr>
          <p:cNvPr id="4" name="Freeform 4">
            <a:extLst>
              <a:ext uri="{FF2B5EF4-FFF2-40B4-BE49-F238E27FC236}">
                <a16:creationId xmlns:a16="http://schemas.microsoft.com/office/drawing/2014/main" id="{5C14416D-A9F5-66CB-232B-630DA0B8B938}"/>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3410D9BB-353B-C335-EEFB-4B1027654F50}"/>
              </a:ext>
            </a:extLst>
          </p:cNvPr>
          <p:cNvSpPr txBox="1"/>
          <p:nvPr/>
        </p:nvSpPr>
        <p:spPr>
          <a:xfrm>
            <a:off x="536448" y="2670547"/>
            <a:ext cx="4911480" cy="2290884"/>
          </a:xfrm>
          <a:prstGeom prst="rect">
            <a:avLst/>
          </a:prstGeom>
        </p:spPr>
        <p:txBody>
          <a:bodyPr wrap="square" lIns="0" tIns="0" rIns="0" bIns="0" rtlCol="0" anchor="t">
            <a:spAutoFit/>
          </a:bodyPr>
          <a:lstStyle/>
          <a:p>
            <a:pPr marL="228600" indent="-22860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Forms a non-slip loop directly around an object you can't drop a pre-tied loop over — a bar, a stretcher rail, a hand-hold.</a:t>
            </a:r>
          </a:p>
          <a:p>
            <a:pPr marL="228600" indent="-228600">
              <a:lnSpc>
                <a:spcPct val="110000"/>
              </a:lnSpc>
              <a:buFont typeface="Arial" panose="020B0604020202020204" pitchFamily="34" charset="0"/>
              <a:buChar char="•"/>
            </a:pPr>
            <a:r>
              <a:rPr lang="en-NZ" sz="1400" b="1" dirty="0">
                <a:solidFill>
                  <a:srgbClr val="FF0000"/>
                </a:solidFill>
                <a:latin typeface="Roboto" panose="02000000000000000000" pitchFamily="2" charset="0"/>
                <a:ea typeface="Roboto" panose="02000000000000000000" pitchFamily="2" charset="0"/>
                <a:cs typeface="Roboto" panose="02000000000000000000" pitchFamily="2" charset="0"/>
              </a:rPr>
              <a:t>Warning: </a:t>
            </a:r>
            <a:r>
              <a:rPr lang="en-NZ" sz="1400" dirty="0">
                <a:latin typeface="Roboto" panose="02000000000000000000" pitchFamily="2" charset="0"/>
                <a:ea typeface="Roboto" panose="02000000000000000000" pitchFamily="2" charset="0"/>
                <a:cs typeface="Roboto" panose="02000000000000000000" pitchFamily="2" charset="0"/>
              </a:rPr>
              <a:t>For the Animation, the knot is shown with a short tail. The tail should be at least a fist width or the length of the knot itself.</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Tag lines.</a:t>
            </a: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The end of safety lines.</a:t>
            </a: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Finishing lowering lines.</a:t>
            </a:r>
          </a:p>
        </p:txBody>
      </p:sp>
      <p:sp>
        <p:nvSpPr>
          <p:cNvPr id="9" name="Freeform 9">
            <a:extLst>
              <a:ext uri="{FF2B5EF4-FFF2-40B4-BE49-F238E27FC236}">
                <a16:creationId xmlns:a16="http://schemas.microsoft.com/office/drawing/2014/main" id="{5DAF81E0-02DE-B7B9-6E9D-97F8EB09CD4F}"/>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1EEFE393-571D-FD95-D421-40EB61ED4E7E}"/>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B7E8BC20-D526-33DA-4E11-32EB3B6EACF1}"/>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80D8B8ED-E7C9-8FFE-031D-9629A5DBD260}"/>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LOOP</a:t>
            </a:r>
          </a:p>
        </p:txBody>
      </p:sp>
      <p:pic>
        <p:nvPicPr>
          <p:cNvPr id="13" name="Picture 12" descr="New Zealand Response Teams (NZ-RTs) » National Emergency Management Agency">
            <a:extLst>
              <a:ext uri="{FF2B5EF4-FFF2-40B4-BE49-F238E27FC236}">
                <a16:creationId xmlns:a16="http://schemas.microsoft.com/office/drawing/2014/main" id="{0785552A-1468-81FE-0EB4-4F7D6176310B}"/>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111DF8E0-259A-6D96-B541-678C4C5B4C34}"/>
              </a:ext>
            </a:extLst>
          </p:cNvPr>
          <p:cNvSpPr txBox="1"/>
          <p:nvPr/>
        </p:nvSpPr>
        <p:spPr>
          <a:xfrm>
            <a:off x="6015505" y="5784522"/>
            <a:ext cx="5883275" cy="553998"/>
          </a:xfrm>
          <a:prstGeom prst="rect">
            <a:avLst/>
          </a:prstGeom>
          <a:noFill/>
        </p:spPr>
        <p:txBody>
          <a:bodyPr wrap="square" rtlCol="0">
            <a:spAutoFit/>
          </a:bodyPr>
          <a:lstStyle/>
          <a:p>
            <a:r>
              <a:rPr lang="en-NZ" sz="1000" b="1" dirty="0"/>
              <a:t>Credit: </a:t>
            </a:r>
            <a:r>
              <a:rPr lang="en-NZ" sz="1000" i="1" dirty="0"/>
              <a:t>Figure 8 Follow Through Loop | How to tie a Figure 8 Follow Through Loop using Step-by-Step Animations | Animated Knots by Grog</a:t>
            </a:r>
            <a:r>
              <a:rPr lang="en-NZ" sz="1000" dirty="0"/>
              <a:t>. (2021, April 11). Animated Knots by Grog. https://www.animatedknots.com/figure-8-follow-through-loop-knot</a:t>
            </a:r>
          </a:p>
        </p:txBody>
      </p:sp>
      <p:pic>
        <p:nvPicPr>
          <p:cNvPr id="6" name="Online Media 3" title="How to Tie the Figure 8 Follow Through Loop">
            <a:hlinkClick r:id="" action="ppaction://media"/>
            <a:extLst>
              <a:ext uri="{FF2B5EF4-FFF2-40B4-BE49-F238E27FC236}">
                <a16:creationId xmlns:a16="http://schemas.microsoft.com/office/drawing/2014/main" id="{A865F1BC-6435-63AB-D210-01FF18A946FC}"/>
              </a:ext>
            </a:extLst>
          </p:cNvPr>
          <p:cNvPicPr>
            <a:picLocks noRot="1" noChangeAspect="1"/>
          </p:cNvPicPr>
          <p:nvPr>
            <a:videoFile r:link="rId1"/>
          </p:nvPr>
        </p:nvPicPr>
        <p:blipFill>
          <a:blip r:embed="rId6"/>
          <a:stretch>
            <a:fillRect/>
          </a:stretch>
        </p:blipFill>
        <p:spPr>
          <a:xfrm>
            <a:off x="6016380" y="2036749"/>
            <a:ext cx="5882400" cy="3323564"/>
          </a:xfrm>
          <a:prstGeom prst="rect">
            <a:avLst/>
          </a:prstGeom>
        </p:spPr>
      </p:pic>
    </p:spTree>
    <p:extLst>
      <p:ext uri="{BB962C8B-B14F-4D97-AF65-F5344CB8AC3E}">
        <p14:creationId xmlns:p14="http://schemas.microsoft.com/office/powerpoint/2010/main" val="393015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C23A-5D3E-37FE-8337-9E7C03B8882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0FDEDB3-E8EF-2B45-3750-55DE7BB95693}"/>
              </a:ext>
            </a:extLst>
          </p:cNvPr>
          <p:cNvSpPr txBox="1"/>
          <p:nvPr/>
        </p:nvSpPr>
        <p:spPr>
          <a:xfrm>
            <a:off x="512064" y="843174"/>
            <a:ext cx="5367912" cy="1584729"/>
          </a:xfrm>
          <a:prstGeom prst="rect">
            <a:avLst/>
          </a:prstGeom>
        </p:spPr>
        <p:txBody>
          <a:bodyPr wrap="square" lIns="0" tIns="0" rIns="0" bIns="0" rtlCol="0" anchor="t">
            <a:spAutoFit/>
          </a:bodyPr>
          <a:lstStyle/>
          <a:p>
            <a:pPr>
              <a:lnSpc>
                <a:spcPts val="5981"/>
              </a:lnSpc>
            </a:pPr>
            <a:r>
              <a:rPr lang="en-US" sz="7036" b="1" spc="175" dirty="0">
                <a:solidFill>
                  <a:srgbClr val="001124"/>
                </a:solidFill>
                <a:latin typeface="Bebas Neue Bold"/>
                <a:ea typeface="Bebas Neue Bold"/>
                <a:cs typeface="Bebas Neue Bold"/>
                <a:sym typeface="Bebas Neue Bold"/>
              </a:rPr>
              <a:t>JOINING FIGURE 8</a:t>
            </a:r>
          </a:p>
        </p:txBody>
      </p:sp>
      <p:sp>
        <p:nvSpPr>
          <p:cNvPr id="4" name="Freeform 4">
            <a:extLst>
              <a:ext uri="{FF2B5EF4-FFF2-40B4-BE49-F238E27FC236}">
                <a16:creationId xmlns:a16="http://schemas.microsoft.com/office/drawing/2014/main" id="{DD004D41-10B9-E1B8-3C7D-C3251629C44E}"/>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4C77956E-5D0A-2FF2-01B3-10473764AD7E}"/>
              </a:ext>
            </a:extLst>
          </p:cNvPr>
          <p:cNvSpPr txBox="1"/>
          <p:nvPr/>
        </p:nvSpPr>
        <p:spPr>
          <a:xfrm>
            <a:off x="536448" y="2670547"/>
            <a:ext cx="4911480" cy="2624565"/>
          </a:xfrm>
          <a:prstGeom prst="rect">
            <a:avLst/>
          </a:prstGeom>
        </p:spPr>
        <p:txBody>
          <a:bodyPr wrap="square" lIns="0" tIns="0" rIns="0" bIns="0" rtlCol="0" anchor="t">
            <a:spAutoFit/>
          </a:bodyPr>
          <a:lstStyle/>
          <a:p>
            <a:pPr marL="228600" indent="-228600">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Uses:</a:t>
            </a:r>
            <a:r>
              <a:rPr lang="en-NZ" sz="1350" dirty="0">
                <a:latin typeface="Roboto" panose="02000000000000000000" pitchFamily="2" charset="0"/>
                <a:ea typeface="Roboto" panose="02000000000000000000" pitchFamily="2" charset="0"/>
                <a:cs typeface="Roboto" panose="02000000000000000000" pitchFamily="2" charset="0"/>
              </a:rPr>
              <a:t> </a:t>
            </a:r>
            <a:r>
              <a:rPr lang="en-AU" sz="1350" dirty="0">
                <a:latin typeface="Roboto" panose="02000000000000000000" pitchFamily="2" charset="0"/>
                <a:ea typeface="Roboto" panose="02000000000000000000" pitchFamily="2" charset="0"/>
                <a:cs typeface="Roboto" panose="02000000000000000000" pitchFamily="2" charset="0"/>
              </a:rPr>
              <a:t>The preferred way to join two synthetic kernmantle ropes of the same diameter end to end.</a:t>
            </a:r>
          </a:p>
          <a:p>
            <a:pPr marL="228600" indent="-228600">
              <a:buFont typeface="Arial" panose="020B0604020202020204" pitchFamily="34" charset="0"/>
              <a:buChar char="•"/>
            </a:pPr>
            <a:r>
              <a:rPr lang="en-US" sz="1350" b="1" dirty="0">
                <a:latin typeface="Roboto" panose="02000000000000000000" pitchFamily="2" charset="0"/>
                <a:ea typeface="Roboto" panose="02000000000000000000" pitchFamily="2" charset="0"/>
                <a:cs typeface="Roboto" panose="02000000000000000000" pitchFamily="2" charset="0"/>
              </a:rPr>
              <a:t>Safety</a:t>
            </a:r>
            <a:r>
              <a:rPr lang="en-US" sz="1350" dirty="0">
                <a:latin typeface="Roboto" panose="02000000000000000000" pitchFamily="2" charset="0"/>
                <a:ea typeface="Roboto" panose="02000000000000000000" pitchFamily="2" charset="0"/>
                <a:cs typeface="Roboto" panose="02000000000000000000" pitchFamily="2" charset="0"/>
              </a:rPr>
              <a:t>: For critical loads, e.g., yourself (!), the joining Figure 8, should not be used with ropes that differ much in size and for safety the ends should be longer.</a:t>
            </a:r>
            <a:endParaRPr lang="en-NZ" sz="1350" dirty="0">
              <a:latin typeface="Roboto" panose="02000000000000000000" pitchFamily="2" charset="0"/>
              <a:ea typeface="Roboto" panose="02000000000000000000" pitchFamily="2" charset="0"/>
              <a:cs typeface="Roboto" panose="02000000000000000000" pitchFamily="2" charset="0"/>
            </a:endParaRPr>
          </a:p>
          <a:p>
            <a:pPr marL="228600" indent="-228600">
              <a:lnSpc>
                <a:spcPct val="110000"/>
              </a:lnSpc>
              <a:buFont typeface="Arial" panose="020B0604020202020204" pitchFamily="34" charset="0"/>
              <a:buChar char="•"/>
            </a:pPr>
            <a:r>
              <a:rPr lang="en-NZ" sz="1350" b="1" dirty="0">
                <a:solidFill>
                  <a:srgbClr val="FF0000"/>
                </a:solidFill>
                <a:latin typeface="Roboto" panose="02000000000000000000" pitchFamily="2" charset="0"/>
                <a:ea typeface="Roboto" panose="02000000000000000000" pitchFamily="2" charset="0"/>
                <a:cs typeface="Roboto" panose="02000000000000000000" pitchFamily="2" charset="0"/>
              </a:rPr>
              <a:t>Warning: </a:t>
            </a:r>
            <a:r>
              <a:rPr lang="en-NZ" sz="1350" dirty="0">
                <a:latin typeface="Roboto" panose="02000000000000000000" pitchFamily="2" charset="0"/>
                <a:ea typeface="Roboto" panose="02000000000000000000" pitchFamily="2" charset="0"/>
                <a:cs typeface="Roboto" panose="02000000000000000000" pitchFamily="2" charset="0"/>
              </a:rPr>
              <a:t>For the Animation, the knot is shown with a short tail. The tail should be at least a fist width or the length of the knot itself.</a:t>
            </a:r>
          </a:p>
          <a:p>
            <a:pPr marL="228600" indent="-228600">
              <a:lnSpc>
                <a:spcPct val="110000"/>
              </a:lnSpc>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Pros and Cons</a:t>
            </a:r>
            <a:r>
              <a:rPr lang="en-NZ" sz="1350" dirty="0">
                <a:latin typeface="Roboto" panose="02000000000000000000" pitchFamily="2" charset="0"/>
                <a:ea typeface="Roboto" panose="02000000000000000000" pitchFamily="2" charset="0"/>
                <a:cs typeface="Roboto" panose="02000000000000000000" pitchFamily="2" charset="0"/>
              </a:rPr>
              <a:t>: The advantage of Figure 8 Bend is that even after considerable strain it remains relatively easy to undo.</a:t>
            </a:r>
          </a:p>
          <a:p>
            <a:pPr marL="228600" indent="-228600">
              <a:lnSpc>
                <a:spcPct val="110000"/>
              </a:lnSpc>
              <a:buFont typeface="Arial" panose="020B0604020202020204" pitchFamily="34" charset="0"/>
              <a:buChar char="•"/>
            </a:pPr>
            <a:r>
              <a:rPr lang="en-US" sz="135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35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350" dirty="0">
                <a:latin typeface="Roboto" panose="02000000000000000000" pitchFamily="2" charset="0"/>
                <a:ea typeface="Roboto" panose="02000000000000000000" pitchFamily="2" charset="0"/>
                <a:cs typeface="Roboto" panose="02000000000000000000" pitchFamily="2" charset="0"/>
              </a:rPr>
              <a:t>Joining two ropes together of the same diameter.</a:t>
            </a:r>
          </a:p>
        </p:txBody>
      </p:sp>
      <p:sp>
        <p:nvSpPr>
          <p:cNvPr id="9" name="Freeform 9">
            <a:extLst>
              <a:ext uri="{FF2B5EF4-FFF2-40B4-BE49-F238E27FC236}">
                <a16:creationId xmlns:a16="http://schemas.microsoft.com/office/drawing/2014/main" id="{8D9139B0-6F2E-7BCE-8072-52F684BA0C9C}"/>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1C6F9198-4064-CBB8-7FF6-09ED55C82BB9}"/>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526554BE-2FBC-1CFB-414A-5E149F1933F7}"/>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F34CE833-9D81-0DAE-C69A-AC926F72546F}"/>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BEND</a:t>
            </a:r>
          </a:p>
        </p:txBody>
      </p:sp>
      <p:pic>
        <p:nvPicPr>
          <p:cNvPr id="13" name="Picture 12" descr="New Zealand Response Teams (NZ-RTs) » National Emergency Management Agency">
            <a:extLst>
              <a:ext uri="{FF2B5EF4-FFF2-40B4-BE49-F238E27FC236}">
                <a16:creationId xmlns:a16="http://schemas.microsoft.com/office/drawing/2014/main" id="{D8991B0E-FCD4-E91D-D4A7-EE2B307829EA}"/>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F4039335-A27B-6A36-0FBF-A4B5DAEC3938}"/>
              </a:ext>
            </a:extLst>
          </p:cNvPr>
          <p:cNvSpPr txBox="1"/>
          <p:nvPr/>
        </p:nvSpPr>
        <p:spPr>
          <a:xfrm>
            <a:off x="6015505" y="5784522"/>
            <a:ext cx="5883275" cy="553998"/>
          </a:xfrm>
          <a:prstGeom prst="rect">
            <a:avLst/>
          </a:prstGeom>
          <a:noFill/>
        </p:spPr>
        <p:txBody>
          <a:bodyPr wrap="square" rtlCol="0">
            <a:spAutoFit/>
          </a:bodyPr>
          <a:lstStyle/>
          <a:p>
            <a:r>
              <a:rPr lang="en-NZ" sz="1000" b="1" dirty="0"/>
              <a:t>Credit: </a:t>
            </a:r>
            <a:r>
              <a:rPr lang="en-NZ" sz="1000" i="1" dirty="0"/>
              <a:t>Figure 8 Bend | How to tie a Figure 8 Bend using Step-by-Step Animations | Animated Knots by Grog</a:t>
            </a:r>
            <a:r>
              <a:rPr lang="en-NZ" sz="1000" dirty="0"/>
              <a:t>. (2019, May 8). Animated Knots by Grog. https://</a:t>
            </a:r>
            <a:r>
              <a:rPr lang="en-NZ" sz="1000" dirty="0" err="1"/>
              <a:t>www.animatedknots.com</a:t>
            </a:r>
            <a:r>
              <a:rPr lang="en-NZ" sz="1000" dirty="0"/>
              <a:t>/figure-8-bend-knot</a:t>
            </a:r>
          </a:p>
          <a:p>
            <a:endParaRPr lang="en-NZ" sz="1000" dirty="0"/>
          </a:p>
        </p:txBody>
      </p:sp>
      <p:pic>
        <p:nvPicPr>
          <p:cNvPr id="7" name="Online Media 5" title="Figure 8 Bend | How to Tie the Figure 8 Bend">
            <a:hlinkClick r:id="" action="ppaction://media"/>
            <a:extLst>
              <a:ext uri="{FF2B5EF4-FFF2-40B4-BE49-F238E27FC236}">
                <a16:creationId xmlns:a16="http://schemas.microsoft.com/office/drawing/2014/main" id="{65C5BB9B-E407-E462-6BA7-9DD1CB533A55}"/>
              </a:ext>
            </a:extLst>
          </p:cNvPr>
          <p:cNvPicPr>
            <a:picLocks noRot="1" noChangeAspect="1"/>
          </p:cNvPicPr>
          <p:nvPr>
            <a:videoFile r:link="rId1"/>
          </p:nvPr>
        </p:nvPicPr>
        <p:blipFill>
          <a:blip r:embed="rId6"/>
          <a:stretch>
            <a:fillRect/>
          </a:stretch>
        </p:blipFill>
        <p:spPr>
          <a:xfrm>
            <a:off x="6015505" y="1919887"/>
            <a:ext cx="5882400" cy="3323564"/>
          </a:xfrm>
          <a:prstGeom prst="rect">
            <a:avLst/>
          </a:prstGeom>
        </p:spPr>
      </p:pic>
    </p:spTree>
    <p:extLst>
      <p:ext uri="{BB962C8B-B14F-4D97-AF65-F5344CB8AC3E}">
        <p14:creationId xmlns:p14="http://schemas.microsoft.com/office/powerpoint/2010/main" val="320756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A49B-9E91-FB39-AFB1-C2252F57D81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EDE5858-B25D-9374-1DD9-A9BECC124634}"/>
              </a:ext>
            </a:extLst>
          </p:cNvPr>
          <p:cNvSpPr txBox="1"/>
          <p:nvPr/>
        </p:nvSpPr>
        <p:spPr>
          <a:xfrm>
            <a:off x="512064" y="843174"/>
            <a:ext cx="5367912" cy="1584729"/>
          </a:xfrm>
          <a:prstGeom prst="rect">
            <a:avLst/>
          </a:prstGeom>
        </p:spPr>
        <p:txBody>
          <a:bodyPr wrap="square" lIns="0" tIns="0" rIns="0" bIns="0" rtlCol="0" anchor="t">
            <a:spAutoFit/>
          </a:bodyPr>
          <a:lstStyle/>
          <a:p>
            <a:pPr>
              <a:lnSpc>
                <a:spcPts val="5981"/>
              </a:lnSpc>
            </a:pPr>
            <a:r>
              <a:rPr lang="en-US" sz="7036" b="1" spc="175" dirty="0">
                <a:solidFill>
                  <a:srgbClr val="001124"/>
                </a:solidFill>
                <a:latin typeface="Bebas Neue Bold"/>
                <a:ea typeface="Bebas Neue Bold"/>
                <a:cs typeface="Bebas Neue Bold"/>
                <a:sym typeface="Bebas Neue Bold"/>
              </a:rPr>
              <a:t>INDUSTRIAL FIGURE 8</a:t>
            </a:r>
          </a:p>
        </p:txBody>
      </p:sp>
      <p:sp>
        <p:nvSpPr>
          <p:cNvPr id="4" name="Freeform 4">
            <a:extLst>
              <a:ext uri="{FF2B5EF4-FFF2-40B4-BE49-F238E27FC236}">
                <a16:creationId xmlns:a16="http://schemas.microsoft.com/office/drawing/2014/main" id="{A8B022B9-2622-40F0-8B1C-096A6C416B78}"/>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5B184DD1-8A59-3413-8A87-0E8EEE8311AD}"/>
              </a:ext>
            </a:extLst>
          </p:cNvPr>
          <p:cNvSpPr txBox="1"/>
          <p:nvPr/>
        </p:nvSpPr>
        <p:spPr>
          <a:xfrm>
            <a:off x="536448" y="2670547"/>
            <a:ext cx="4911480" cy="2247795"/>
          </a:xfrm>
          <a:prstGeom prst="rect">
            <a:avLst/>
          </a:prstGeom>
        </p:spPr>
        <p:txBody>
          <a:bodyPr wrap="square" lIns="0" tIns="0" rIns="0" bIns="0" rtlCol="0" anchor="t">
            <a:spAutoFit/>
          </a:bodyPr>
          <a:lstStyle/>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Other Names: </a:t>
            </a:r>
            <a:r>
              <a:rPr lang="en-US" sz="1400" dirty="0">
                <a:latin typeface="Roboto" panose="02000000000000000000" pitchFamily="2" charset="0"/>
                <a:ea typeface="Roboto" panose="02000000000000000000" pitchFamily="2" charset="0"/>
                <a:cs typeface="Roboto" panose="02000000000000000000" pitchFamily="2" charset="0"/>
              </a:rPr>
              <a:t>The Industrial Figure 8 is also known as the Double Figure 8 Loop, Bunny Ears, Anchor 8, or Dog-eared loop.</a:t>
            </a:r>
            <a:endParaRPr lang="en-NZ" sz="1400" dirty="0">
              <a:latin typeface="Roboto" panose="02000000000000000000" pitchFamily="2" charset="0"/>
              <a:ea typeface="Roboto" panose="02000000000000000000" pitchFamily="2" charset="0"/>
              <a:cs typeface="Roboto" panose="02000000000000000000" pitchFamily="2" charset="0"/>
            </a:endParaRPr>
          </a:p>
          <a:p>
            <a:pPr marL="228600" indent="-22860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An exceptionally strong knot producing two independently adjustable loops at a rope end - each loop can be clipped to a separate anchor point.</a:t>
            </a:r>
          </a:p>
          <a:p>
            <a:pPr marL="228600" indent="-228600">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Loop Size</a:t>
            </a:r>
            <a:r>
              <a:rPr lang="en-US" sz="1400" dirty="0">
                <a:latin typeface="Roboto" panose="02000000000000000000" pitchFamily="2" charset="0"/>
                <a:ea typeface="Roboto" panose="02000000000000000000" pitchFamily="2" charset="0"/>
                <a:cs typeface="Roboto" panose="02000000000000000000" pitchFamily="2" charset="0"/>
              </a:rPr>
              <a:t>: In the animation the two loops have been made small. In practice they are usually much larger.</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In conjunction with the vertical lift knot.</a:t>
            </a:r>
          </a:p>
        </p:txBody>
      </p:sp>
      <p:sp>
        <p:nvSpPr>
          <p:cNvPr id="9" name="Freeform 9">
            <a:extLst>
              <a:ext uri="{FF2B5EF4-FFF2-40B4-BE49-F238E27FC236}">
                <a16:creationId xmlns:a16="http://schemas.microsoft.com/office/drawing/2014/main" id="{54B646EB-075F-2C67-F952-785FC81D7CA6}"/>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05A21EAE-EC87-480F-DBC1-13F5A75440F5}"/>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359FD5BA-B36F-81D8-C6E2-29B3A1A132F3}"/>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5D520AF8-3BAF-25E5-1CB5-C46A0ABAF79C}"/>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LOOP</a:t>
            </a:r>
          </a:p>
        </p:txBody>
      </p:sp>
      <p:pic>
        <p:nvPicPr>
          <p:cNvPr id="13" name="Picture 12" descr="New Zealand Response Teams (NZ-RTs) » National Emergency Management Agency">
            <a:extLst>
              <a:ext uri="{FF2B5EF4-FFF2-40B4-BE49-F238E27FC236}">
                <a16:creationId xmlns:a16="http://schemas.microsoft.com/office/drawing/2014/main" id="{2AECB93E-425F-7701-28E1-223C1350462B}"/>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D28D1080-4465-F7F1-EB0E-76930615FF55}"/>
              </a:ext>
            </a:extLst>
          </p:cNvPr>
          <p:cNvSpPr txBox="1"/>
          <p:nvPr/>
        </p:nvSpPr>
        <p:spPr>
          <a:xfrm>
            <a:off x="6015505" y="5784522"/>
            <a:ext cx="5883275" cy="707886"/>
          </a:xfrm>
          <a:prstGeom prst="rect">
            <a:avLst/>
          </a:prstGeom>
          <a:noFill/>
        </p:spPr>
        <p:txBody>
          <a:bodyPr wrap="square" rtlCol="0">
            <a:spAutoFit/>
          </a:bodyPr>
          <a:lstStyle/>
          <a:p>
            <a:r>
              <a:rPr lang="en-NZ" sz="1000" b="1" dirty="0"/>
              <a:t>Credit: </a:t>
            </a:r>
            <a:r>
              <a:rPr lang="en-NZ" sz="1000" i="1" dirty="0"/>
              <a:t>Figure 8 Double Loop | How to tie a Figure 8 Double Loop using Step-by-Step Animations | Animated Knots by Grog</a:t>
            </a:r>
            <a:r>
              <a:rPr lang="en-NZ" sz="1000" dirty="0"/>
              <a:t>. (2020, July 14). Animated Knots by Grog. https://</a:t>
            </a:r>
            <a:r>
              <a:rPr lang="en-NZ" sz="1000" dirty="0" err="1"/>
              <a:t>www.animatedknots.com</a:t>
            </a:r>
            <a:r>
              <a:rPr lang="en-NZ" sz="1000" dirty="0"/>
              <a:t>/figure-8-double-loop-knot</a:t>
            </a:r>
          </a:p>
          <a:p>
            <a:endParaRPr lang="en-NZ" sz="1000" dirty="0"/>
          </a:p>
        </p:txBody>
      </p:sp>
      <p:pic>
        <p:nvPicPr>
          <p:cNvPr id="6" name="Online Media 2" title="Double Figure 8 Loop | Bunny Ears | How to Tie the Double Figure 8 Loop (Bunny Ears)">
            <a:hlinkClick r:id="" action="ppaction://media"/>
            <a:extLst>
              <a:ext uri="{FF2B5EF4-FFF2-40B4-BE49-F238E27FC236}">
                <a16:creationId xmlns:a16="http://schemas.microsoft.com/office/drawing/2014/main" id="{C6A4676C-6DDE-51FE-A609-6C4081D61CA1}"/>
              </a:ext>
            </a:extLst>
          </p:cNvPr>
          <p:cNvPicPr>
            <a:picLocks noRot="1" noChangeAspect="1"/>
          </p:cNvPicPr>
          <p:nvPr>
            <a:videoFile r:link="rId1"/>
          </p:nvPr>
        </p:nvPicPr>
        <p:blipFill>
          <a:blip r:embed="rId6"/>
          <a:stretch>
            <a:fillRect/>
          </a:stretch>
        </p:blipFill>
        <p:spPr>
          <a:xfrm>
            <a:off x="6025128" y="1767218"/>
            <a:ext cx="5882400" cy="3323564"/>
          </a:xfrm>
          <a:prstGeom prst="rect">
            <a:avLst/>
          </a:prstGeom>
        </p:spPr>
      </p:pic>
    </p:spTree>
    <p:extLst>
      <p:ext uri="{BB962C8B-B14F-4D97-AF65-F5344CB8AC3E}">
        <p14:creationId xmlns:p14="http://schemas.microsoft.com/office/powerpoint/2010/main" val="334083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D905-297B-3991-62A5-81D62F1EF72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4B92D79-79FC-B53D-DC83-F6374F2EE360}"/>
              </a:ext>
            </a:extLst>
          </p:cNvPr>
          <p:cNvSpPr txBox="1"/>
          <p:nvPr/>
        </p:nvSpPr>
        <p:spPr>
          <a:xfrm>
            <a:off x="512064" y="843174"/>
            <a:ext cx="5367912" cy="1509003"/>
          </a:xfrm>
          <a:prstGeom prst="rect">
            <a:avLst/>
          </a:prstGeom>
        </p:spPr>
        <p:txBody>
          <a:bodyPr wrap="square" lIns="0" tIns="0" rIns="0" bIns="0" rtlCol="0" anchor="t">
            <a:spAutoFit/>
          </a:bodyPr>
          <a:lstStyle/>
          <a:p>
            <a:pPr>
              <a:lnSpc>
                <a:spcPts val="5981"/>
              </a:lnSpc>
            </a:pPr>
            <a:r>
              <a:rPr lang="en-US" sz="4800" b="1" spc="175" dirty="0">
                <a:solidFill>
                  <a:srgbClr val="001124"/>
                </a:solidFill>
                <a:latin typeface="Bebas Neue Bold"/>
                <a:ea typeface="Bebas Neue Bold"/>
                <a:cs typeface="Bebas Neue Bold"/>
                <a:sym typeface="Bebas Neue Bold"/>
              </a:rPr>
              <a:t>ROUND TURN AND TWO HALF HITCHES</a:t>
            </a:r>
          </a:p>
        </p:txBody>
      </p:sp>
      <p:sp>
        <p:nvSpPr>
          <p:cNvPr id="4" name="Freeform 4">
            <a:extLst>
              <a:ext uri="{FF2B5EF4-FFF2-40B4-BE49-F238E27FC236}">
                <a16:creationId xmlns:a16="http://schemas.microsoft.com/office/drawing/2014/main" id="{D9593AD5-5698-286B-8233-918F7D139713}"/>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A00D4A99-AAFD-9A90-05A6-5A5A36CB5FF6}"/>
              </a:ext>
            </a:extLst>
          </p:cNvPr>
          <p:cNvSpPr txBox="1"/>
          <p:nvPr/>
        </p:nvSpPr>
        <p:spPr>
          <a:xfrm>
            <a:off x="536448" y="2670547"/>
            <a:ext cx="4911480" cy="2727413"/>
          </a:xfrm>
          <a:prstGeom prst="rect">
            <a:avLst/>
          </a:prstGeom>
        </p:spPr>
        <p:txBody>
          <a:bodyPr wrap="square" lIns="0" tIns="0" rIns="0" bIns="0" rtlCol="0" anchor="t">
            <a:spAutoFit/>
          </a:bodyPr>
          <a:lstStyle/>
          <a:p>
            <a:pPr marL="228600" indent="-228600">
              <a:lnSpc>
                <a:spcPct val="100000"/>
              </a:lnSpc>
              <a:buFont typeface="Arial" panose="020B0604020202020204" pitchFamily="34" charset="0"/>
              <a:buChar char="•"/>
            </a:pPr>
            <a:r>
              <a:rPr lang="en-NZ" sz="1300" b="1" dirty="0">
                <a:latin typeface="Roboto" panose="02000000000000000000" pitchFamily="2" charset="0"/>
                <a:ea typeface="Roboto" panose="02000000000000000000" pitchFamily="2" charset="0"/>
                <a:cs typeface="Roboto" panose="02000000000000000000" pitchFamily="2" charset="0"/>
              </a:rPr>
              <a:t>Uses:</a:t>
            </a:r>
            <a:r>
              <a:rPr lang="en-NZ" sz="1300" dirty="0">
                <a:latin typeface="Roboto" panose="02000000000000000000" pitchFamily="2" charset="0"/>
                <a:ea typeface="Roboto" panose="02000000000000000000" pitchFamily="2" charset="0"/>
                <a:cs typeface="Roboto" panose="02000000000000000000" pitchFamily="2" charset="0"/>
              </a:rPr>
              <a:t> </a:t>
            </a:r>
            <a:r>
              <a:rPr lang="en-AU" sz="1300" dirty="0">
                <a:latin typeface="Roboto" panose="02000000000000000000" pitchFamily="2" charset="0"/>
                <a:ea typeface="Roboto" panose="02000000000000000000" pitchFamily="2" charset="0"/>
                <a:cs typeface="Roboto" panose="02000000000000000000" pitchFamily="2" charset="0"/>
              </a:rPr>
              <a:t>Secures a rope's running end to a spar or ring — and, unlike most hitches, it can be tied while the line is already under tension.</a:t>
            </a:r>
          </a:p>
          <a:p>
            <a:pPr marL="685800" lvl="1" indent="-228600">
              <a:buFont typeface="Arial" panose="020B0604020202020204" pitchFamily="34" charset="0"/>
              <a:buChar char="•"/>
            </a:pPr>
            <a:r>
              <a:rPr lang="en-US" sz="1300" b="1" dirty="0">
                <a:latin typeface="Roboto" panose="02000000000000000000" pitchFamily="2" charset="0"/>
                <a:ea typeface="Roboto" panose="02000000000000000000" pitchFamily="2" charset="0"/>
                <a:cs typeface="Roboto" panose="02000000000000000000" pitchFamily="2" charset="0"/>
              </a:rPr>
              <a:t>Round Turn</a:t>
            </a:r>
            <a:r>
              <a:rPr lang="en-US" sz="1300" dirty="0">
                <a:latin typeface="Roboto" panose="02000000000000000000" pitchFamily="2" charset="0"/>
                <a:ea typeface="Roboto" panose="02000000000000000000" pitchFamily="2" charset="0"/>
                <a:cs typeface="Roboto" panose="02000000000000000000" pitchFamily="2" charset="0"/>
              </a:rPr>
              <a:t>: </a:t>
            </a:r>
            <a:r>
              <a:rPr lang="en-NZ" sz="1300" dirty="0">
                <a:latin typeface="Roboto" panose="02000000000000000000" pitchFamily="2" charset="0"/>
                <a:ea typeface="Roboto" panose="02000000000000000000" pitchFamily="2" charset="0"/>
                <a:cs typeface="Roboto" panose="02000000000000000000" pitchFamily="2" charset="0"/>
              </a:rPr>
              <a:t>A round turn uses multiple passes of a line around a post to handle and control heavy loads or strain while the rest of a knot is tied.</a:t>
            </a:r>
          </a:p>
          <a:p>
            <a:pPr marL="685800" lvl="2" indent="-228600">
              <a:lnSpc>
                <a:spcPct val="110000"/>
              </a:lnSpc>
              <a:buFont typeface="Arial" panose="020B0604020202020204" pitchFamily="34" charset="0"/>
              <a:buChar char="•"/>
            </a:pPr>
            <a:r>
              <a:rPr lang="en-NZ" sz="1300" b="1" dirty="0">
                <a:latin typeface="Roboto" panose="02000000000000000000" pitchFamily="2" charset="0"/>
                <a:ea typeface="Roboto" panose="02000000000000000000" pitchFamily="2" charset="0"/>
                <a:cs typeface="Roboto" panose="02000000000000000000" pitchFamily="2" charset="0"/>
              </a:rPr>
              <a:t>Two Half Hitches</a:t>
            </a:r>
            <a:r>
              <a:rPr lang="en-NZ" sz="1300" dirty="0">
                <a:latin typeface="Roboto" panose="02000000000000000000" pitchFamily="2" charset="0"/>
                <a:ea typeface="Roboto" panose="02000000000000000000" pitchFamily="2" charset="0"/>
                <a:cs typeface="Roboto" panose="02000000000000000000" pitchFamily="2" charset="0"/>
              </a:rPr>
              <a:t>. The two Half Hitches actually form a clove hitch round the standing end.</a:t>
            </a:r>
          </a:p>
          <a:p>
            <a:pPr marL="228600" indent="-228600">
              <a:lnSpc>
                <a:spcPct val="110000"/>
              </a:lnSpc>
              <a:buFont typeface="Arial" panose="020B0604020202020204" pitchFamily="34" charset="0"/>
              <a:buChar char="•"/>
            </a:pPr>
            <a:r>
              <a:rPr lang="en-NZ" sz="1300" b="1" dirty="0">
                <a:latin typeface="Roboto" panose="02000000000000000000" pitchFamily="2" charset="0"/>
                <a:ea typeface="Roboto" panose="02000000000000000000" pitchFamily="2" charset="0"/>
                <a:cs typeface="Roboto" panose="02000000000000000000" pitchFamily="2" charset="0"/>
              </a:rPr>
              <a:t>Direction:</a:t>
            </a:r>
            <a:r>
              <a:rPr lang="en-NZ" sz="1300" dirty="0">
                <a:latin typeface="Roboto" panose="02000000000000000000" pitchFamily="2" charset="0"/>
                <a:ea typeface="Roboto" panose="02000000000000000000" pitchFamily="2" charset="0"/>
                <a:cs typeface="Roboto" panose="02000000000000000000" pitchFamily="2" charset="0"/>
              </a:rPr>
              <a:t> Always tie the Half Hitches in the same </a:t>
            </a:r>
            <a:r>
              <a:rPr lang="en-NZ" sz="1300" i="1" dirty="0">
                <a:latin typeface="Roboto" panose="02000000000000000000" pitchFamily="2" charset="0"/>
                <a:ea typeface="Roboto" panose="02000000000000000000" pitchFamily="2" charset="0"/>
                <a:cs typeface="Roboto" panose="02000000000000000000" pitchFamily="2" charset="0"/>
              </a:rPr>
              <a:t>‘direction’.</a:t>
            </a:r>
            <a:r>
              <a:rPr lang="en-NZ" sz="1300" dirty="0">
                <a:latin typeface="Roboto" panose="02000000000000000000" pitchFamily="2" charset="0"/>
                <a:ea typeface="Roboto" panose="02000000000000000000" pitchFamily="2" charset="0"/>
                <a:cs typeface="Roboto" panose="02000000000000000000" pitchFamily="2" charset="0"/>
              </a:rPr>
              <a:t> If you start the first Half Hitch with the tail passing away from you above the rope, then do the same with the next (and the next).</a:t>
            </a:r>
          </a:p>
          <a:p>
            <a:pPr marL="228600" indent="-228600">
              <a:lnSpc>
                <a:spcPct val="110000"/>
              </a:lnSpc>
              <a:buFont typeface="Arial" panose="020B0604020202020204" pitchFamily="34" charset="0"/>
              <a:buChar char="•"/>
            </a:pPr>
            <a:r>
              <a:rPr lang="en-US" sz="13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3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300" dirty="0">
                <a:latin typeface="Roboto" panose="02000000000000000000" pitchFamily="2" charset="0"/>
                <a:ea typeface="Roboto" panose="02000000000000000000" pitchFamily="2" charset="0"/>
                <a:cs typeface="Roboto" panose="02000000000000000000" pitchFamily="2" charset="0"/>
              </a:rPr>
              <a:t>Stretcher Lashings</a:t>
            </a:r>
          </a:p>
        </p:txBody>
      </p:sp>
      <p:sp>
        <p:nvSpPr>
          <p:cNvPr id="9" name="Freeform 9">
            <a:extLst>
              <a:ext uri="{FF2B5EF4-FFF2-40B4-BE49-F238E27FC236}">
                <a16:creationId xmlns:a16="http://schemas.microsoft.com/office/drawing/2014/main" id="{E40525D9-6BCC-C75D-9D6B-90E349DD8B2A}"/>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FC3B450E-C2E7-E297-FBCD-139CB3085741}"/>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B684BA0F-804F-6626-ED03-358BFDF0AEC9}"/>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DBA2BFE0-2D10-8AF4-4E3F-A99092185121}"/>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HITCH</a:t>
            </a:r>
          </a:p>
        </p:txBody>
      </p:sp>
      <p:pic>
        <p:nvPicPr>
          <p:cNvPr id="13" name="Picture 12" descr="New Zealand Response Teams (NZ-RTs) » National Emergency Management Agency">
            <a:extLst>
              <a:ext uri="{FF2B5EF4-FFF2-40B4-BE49-F238E27FC236}">
                <a16:creationId xmlns:a16="http://schemas.microsoft.com/office/drawing/2014/main" id="{002CDB6C-1E57-A724-8A80-55C5BB7DDF72}"/>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86DF5BC8-8C80-56C2-8209-4BFB20703460}"/>
              </a:ext>
            </a:extLst>
          </p:cNvPr>
          <p:cNvSpPr txBox="1"/>
          <p:nvPr/>
        </p:nvSpPr>
        <p:spPr>
          <a:xfrm>
            <a:off x="6015505" y="5784522"/>
            <a:ext cx="5883275" cy="707886"/>
          </a:xfrm>
          <a:prstGeom prst="rect">
            <a:avLst/>
          </a:prstGeom>
          <a:noFill/>
        </p:spPr>
        <p:txBody>
          <a:bodyPr wrap="square" rtlCol="0">
            <a:spAutoFit/>
          </a:bodyPr>
          <a:lstStyle/>
          <a:p>
            <a:r>
              <a:rPr lang="en-NZ" sz="1000" b="1" dirty="0"/>
              <a:t>Credit: </a:t>
            </a:r>
            <a:r>
              <a:rPr lang="en-NZ" sz="1000" i="1" dirty="0"/>
              <a:t>Round Turn &amp; Two Half Hitches | How to tie a Round Turn &amp; Two Half Hitches using Step-by-Step Animations | Animated Knots by Grog</a:t>
            </a:r>
            <a:r>
              <a:rPr lang="en-NZ" sz="1000" dirty="0"/>
              <a:t>. (2019, May 16). Animated Knots by Grog. https://</a:t>
            </a:r>
            <a:r>
              <a:rPr lang="en-NZ" sz="1000" dirty="0" err="1"/>
              <a:t>www.animatedknots.com</a:t>
            </a:r>
            <a:r>
              <a:rPr lang="en-NZ" sz="1000" dirty="0"/>
              <a:t>/round-turn-two-half-hitches-knot</a:t>
            </a:r>
          </a:p>
          <a:p>
            <a:endParaRPr lang="en-NZ" sz="1000" dirty="0"/>
          </a:p>
        </p:txBody>
      </p:sp>
      <p:pic>
        <p:nvPicPr>
          <p:cNvPr id="7" name="Online Media 3" title="Round Turn Two Half Hitches | Round Turn Knot">
            <a:hlinkClick r:id="" action="ppaction://media"/>
            <a:extLst>
              <a:ext uri="{FF2B5EF4-FFF2-40B4-BE49-F238E27FC236}">
                <a16:creationId xmlns:a16="http://schemas.microsoft.com/office/drawing/2014/main" id="{E9E7D6E2-009D-CE4F-6E17-019D6CF970F4}"/>
              </a:ext>
            </a:extLst>
          </p:cNvPr>
          <p:cNvPicPr>
            <a:picLocks noRot="1" noChangeAspect="1"/>
          </p:cNvPicPr>
          <p:nvPr>
            <a:videoFile r:link="rId1"/>
          </p:nvPr>
        </p:nvPicPr>
        <p:blipFill>
          <a:blip r:embed="rId6"/>
          <a:stretch>
            <a:fillRect/>
          </a:stretch>
        </p:blipFill>
        <p:spPr>
          <a:xfrm>
            <a:off x="6025128" y="1767218"/>
            <a:ext cx="5882400" cy="3323564"/>
          </a:xfrm>
          <a:prstGeom prst="rect">
            <a:avLst/>
          </a:prstGeom>
        </p:spPr>
      </p:pic>
    </p:spTree>
    <p:extLst>
      <p:ext uri="{BB962C8B-B14F-4D97-AF65-F5344CB8AC3E}">
        <p14:creationId xmlns:p14="http://schemas.microsoft.com/office/powerpoint/2010/main" val="289598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D905-297B-3991-62A5-81D62F1EF72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4B92D79-79FC-B53D-DC83-F6374F2EE360}"/>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ALPINE BUTTERFLY</a:t>
            </a:r>
          </a:p>
        </p:txBody>
      </p:sp>
      <p:sp>
        <p:nvSpPr>
          <p:cNvPr id="4" name="Freeform 4">
            <a:extLst>
              <a:ext uri="{FF2B5EF4-FFF2-40B4-BE49-F238E27FC236}">
                <a16:creationId xmlns:a16="http://schemas.microsoft.com/office/drawing/2014/main" id="{D9593AD5-5698-286B-8233-918F7D139713}"/>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A00D4A99-AAFD-9A90-05A6-5A5A36CB5FF6}"/>
              </a:ext>
            </a:extLst>
          </p:cNvPr>
          <p:cNvSpPr txBox="1"/>
          <p:nvPr/>
        </p:nvSpPr>
        <p:spPr>
          <a:xfrm>
            <a:off x="536448" y="2670547"/>
            <a:ext cx="4911480" cy="2247795"/>
          </a:xfrm>
          <a:prstGeom prst="rect">
            <a:avLst/>
          </a:prstGeom>
        </p:spPr>
        <p:txBody>
          <a:bodyPr wrap="square" lIns="0" tIns="0" rIns="0" bIns="0" rtlCol="0" anchor="t">
            <a:spAutoFit/>
          </a:bodyPr>
          <a:lstStyle/>
          <a:p>
            <a:pPr marL="228600" indent="-228600">
              <a:lnSpc>
                <a:spcPct val="10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A strong, locked loop tied anywhere along the length of a rope — not just at the ends. Holds well when loaded from either direction.</a:t>
            </a:r>
          </a:p>
          <a:p>
            <a:pPr marL="228600" indent="-228600">
              <a:lnSpc>
                <a:spcPct val="10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Tying it:</a:t>
            </a:r>
            <a:r>
              <a:rPr lang="en-NZ" sz="1400" dirty="0">
                <a:latin typeface="Roboto" panose="02000000000000000000" pitchFamily="2" charset="0"/>
                <a:ea typeface="Roboto" panose="02000000000000000000" pitchFamily="2" charset="0"/>
                <a:cs typeface="Roboto" panose="02000000000000000000" pitchFamily="2" charset="0"/>
              </a:rPr>
              <a:t> There are several methods for tying the Alpine Butterfly Loop. </a:t>
            </a:r>
          </a:p>
          <a:p>
            <a:pPr marL="228600" indent="-228600">
              <a:lnSpc>
                <a:spcPct val="11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Advantages:</a:t>
            </a:r>
            <a:r>
              <a:rPr lang="en-NZ" sz="1400" dirty="0">
                <a:latin typeface="Roboto" panose="02000000000000000000" pitchFamily="2" charset="0"/>
                <a:ea typeface="Roboto" panose="02000000000000000000" pitchFamily="2" charset="0"/>
                <a:cs typeface="Roboto" panose="02000000000000000000" pitchFamily="2" charset="0"/>
              </a:rPr>
              <a:t> The Alpine Butterfly spreads load evenly on its two legs, allowing the isolation of the rope within the loop.</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Roofing Systems.</a:t>
            </a:r>
          </a:p>
        </p:txBody>
      </p:sp>
      <p:sp>
        <p:nvSpPr>
          <p:cNvPr id="9" name="Freeform 9">
            <a:extLst>
              <a:ext uri="{FF2B5EF4-FFF2-40B4-BE49-F238E27FC236}">
                <a16:creationId xmlns:a16="http://schemas.microsoft.com/office/drawing/2014/main" id="{E40525D9-6BCC-C75D-9D6B-90E349DD8B2A}"/>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FC3B450E-C2E7-E297-FBCD-139CB3085741}"/>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B684BA0F-804F-6626-ED03-358BFDF0AEC9}"/>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DBA2BFE0-2D10-8AF4-4E3F-A99092185121}"/>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LOOP</a:t>
            </a:r>
          </a:p>
        </p:txBody>
      </p:sp>
      <p:pic>
        <p:nvPicPr>
          <p:cNvPr id="13" name="Picture 12" descr="New Zealand Response Teams (NZ-RTs) » National Emergency Management Agency">
            <a:extLst>
              <a:ext uri="{FF2B5EF4-FFF2-40B4-BE49-F238E27FC236}">
                <a16:creationId xmlns:a16="http://schemas.microsoft.com/office/drawing/2014/main" id="{002CDB6C-1E57-A724-8A80-55C5BB7DDF72}"/>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86DF5BC8-8C80-56C2-8209-4BFB20703460}"/>
              </a:ext>
            </a:extLst>
          </p:cNvPr>
          <p:cNvSpPr txBox="1"/>
          <p:nvPr/>
        </p:nvSpPr>
        <p:spPr>
          <a:xfrm>
            <a:off x="6015505" y="5784522"/>
            <a:ext cx="5883275" cy="707886"/>
          </a:xfrm>
          <a:prstGeom prst="rect">
            <a:avLst/>
          </a:prstGeom>
          <a:noFill/>
        </p:spPr>
        <p:txBody>
          <a:bodyPr wrap="square" rtlCol="0">
            <a:spAutoFit/>
          </a:bodyPr>
          <a:lstStyle/>
          <a:p>
            <a:r>
              <a:rPr lang="en-NZ" sz="1000" b="1" dirty="0"/>
              <a:t>Credit: </a:t>
            </a:r>
            <a:r>
              <a:rPr lang="en-NZ" sz="1000" i="1" dirty="0"/>
              <a:t>Alpine Butterfly Loop | How to tie a Alpine Butterfly Loop using Step-by-Step Animations | Animated Knots by Grog</a:t>
            </a:r>
            <a:r>
              <a:rPr lang="en-NZ" sz="1000" dirty="0"/>
              <a:t>. (2019, October 10). Animated Knots by Grog. https://</a:t>
            </a:r>
            <a:r>
              <a:rPr lang="en-NZ" sz="1000" dirty="0" err="1"/>
              <a:t>www.animatedknots.com</a:t>
            </a:r>
            <a:r>
              <a:rPr lang="en-NZ" sz="1000" dirty="0"/>
              <a:t>/alpine-butterfly-loop-knot</a:t>
            </a:r>
          </a:p>
          <a:p>
            <a:endParaRPr lang="en-NZ" sz="1000" dirty="0"/>
          </a:p>
        </p:txBody>
      </p:sp>
      <p:pic>
        <p:nvPicPr>
          <p:cNvPr id="6" name="Online Media 5" title="How to Tie an Alpine Butterfly Loop">
            <a:hlinkClick r:id="" action="ppaction://media"/>
            <a:extLst>
              <a:ext uri="{FF2B5EF4-FFF2-40B4-BE49-F238E27FC236}">
                <a16:creationId xmlns:a16="http://schemas.microsoft.com/office/drawing/2014/main" id="{0C8E532C-856A-351B-2690-D6246E91D96D}"/>
              </a:ext>
            </a:extLst>
          </p:cNvPr>
          <p:cNvPicPr>
            <a:picLocks noRot="1" noChangeAspect="1"/>
          </p:cNvPicPr>
          <p:nvPr>
            <a:videoFile r:link="rId1"/>
          </p:nvPr>
        </p:nvPicPr>
        <p:blipFill>
          <a:blip r:embed="rId6"/>
          <a:srcRect l="3" r="3"/>
          <a:stretch/>
        </p:blipFill>
        <p:spPr>
          <a:xfrm>
            <a:off x="6025128" y="1766887"/>
            <a:ext cx="5883275" cy="3324225"/>
          </a:xfrm>
          <a:prstGeom prst="rect">
            <a:avLst/>
          </a:prstGeom>
          <a:noFill/>
        </p:spPr>
      </p:pic>
    </p:spTree>
    <p:extLst>
      <p:ext uri="{BB962C8B-B14F-4D97-AF65-F5344CB8AC3E}">
        <p14:creationId xmlns:p14="http://schemas.microsoft.com/office/powerpoint/2010/main" val="58306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B6CC8736-5D00-2BBB-4B0B-5957701927C3}"/>
              </a:ext>
            </a:extLst>
          </p:cNvPr>
          <p:cNvSpPr>
            <a:spLocks noGrp="1"/>
          </p:cNvSpPr>
          <p:nvPr>
            <p:ph type="body" idx="1"/>
          </p:nvPr>
        </p:nvSpPr>
        <p:spPr>
          <a:xfrm>
            <a:off x="607123" y="5817472"/>
            <a:ext cx="5184648" cy="534033"/>
          </a:xfrm>
        </p:spPr>
        <p:txBody>
          <a:bodyPr>
            <a:normAutofit/>
          </a:bodyPr>
          <a:lstStyle/>
          <a:p>
            <a:r>
              <a:rPr lang="en-NZ" sz="1000" cap="none" dirty="0">
                <a:solidFill>
                  <a:schemeClr val="tx1"/>
                </a:solidFill>
              </a:rPr>
              <a:t>Credit: </a:t>
            </a:r>
            <a:r>
              <a:rPr lang="en-NZ" sz="1000" b="0" i="1" cap="none" dirty="0">
                <a:solidFill>
                  <a:schemeClr val="tx1"/>
                </a:solidFill>
              </a:rPr>
              <a:t>Alpine Butterfly</a:t>
            </a:r>
            <a:r>
              <a:rPr lang="en-NZ" sz="1000" b="0" cap="none" dirty="0">
                <a:solidFill>
                  <a:schemeClr val="tx1"/>
                </a:solidFill>
              </a:rPr>
              <a:t>. (N.D.). </a:t>
            </a:r>
            <a:r>
              <a:rPr lang="en-NZ" sz="1000" b="0" cap="none" dirty="0" err="1">
                <a:solidFill>
                  <a:schemeClr val="tx1"/>
                </a:solidFill>
              </a:rPr>
              <a:t>Nynix</a:t>
            </a:r>
            <a:r>
              <a:rPr lang="en-NZ" sz="1000" b="0" cap="none" dirty="0">
                <a:solidFill>
                  <a:schemeClr val="tx1"/>
                </a:solidFill>
              </a:rPr>
              <a:t> </a:t>
            </a:r>
            <a:r>
              <a:rPr lang="en-NZ" sz="1000" b="0" cap="none" dirty="0" err="1">
                <a:solidFill>
                  <a:schemeClr val="tx1"/>
                </a:solidFill>
              </a:rPr>
              <a:t>llc</a:t>
            </a:r>
            <a:r>
              <a:rPr lang="en-NZ" sz="1000" b="0" cap="none" dirty="0">
                <a:solidFill>
                  <a:schemeClr val="tx1"/>
                </a:solidFill>
              </a:rPr>
              <a:t>. https://knots3d.Com/en/alpine-butterfly-knot</a:t>
            </a:r>
          </a:p>
        </p:txBody>
      </p:sp>
      <p:pic>
        <p:nvPicPr>
          <p:cNvPr id="23" name="alpine-butterfly-knot">
            <a:hlinkClick r:id="" action="ppaction://media"/>
            <a:extLst>
              <a:ext uri="{FF2B5EF4-FFF2-40B4-BE49-F238E27FC236}">
                <a16:creationId xmlns:a16="http://schemas.microsoft.com/office/drawing/2014/main" id="{4F2304D3-E125-34CE-5968-102FA1079667}"/>
              </a:ext>
            </a:extLst>
          </p:cNvPr>
          <p:cNvPicPr>
            <a:picLocks noGrp="1" noChangeAspect="1"/>
          </p:cNvPicPr>
          <p:nvPr>
            <p:ph sz="quarter" idx="15"/>
            <a:videoFile r:link="rId2"/>
            <p:extLst>
              <p:ext uri="{DAA4B4D4-6D71-4841-9C94-3DE7FCFB9230}">
                <p14:media xmlns:p14="http://schemas.microsoft.com/office/powerpoint/2010/main" r:embed="rId1"/>
              </p:ext>
            </p:extLst>
          </p:nvPr>
        </p:nvPicPr>
        <p:blipFill>
          <a:blip r:embed="rId7"/>
          <a:stretch>
            <a:fillRect/>
          </a:stretch>
        </p:blipFill>
        <p:spPr>
          <a:xfrm>
            <a:off x="695325" y="2463800"/>
            <a:ext cx="3856038" cy="2892425"/>
          </a:xfrm>
        </p:spPr>
      </p:pic>
      <p:sp>
        <p:nvSpPr>
          <p:cNvPr id="25" name="Text Placeholder 24">
            <a:extLst>
              <a:ext uri="{FF2B5EF4-FFF2-40B4-BE49-F238E27FC236}">
                <a16:creationId xmlns:a16="http://schemas.microsoft.com/office/drawing/2014/main" id="{3B338B1D-732B-A17E-DB15-2EBF558B92EA}"/>
              </a:ext>
            </a:extLst>
          </p:cNvPr>
          <p:cNvSpPr>
            <a:spLocks noGrp="1"/>
          </p:cNvSpPr>
          <p:nvPr>
            <p:ph type="body" sz="quarter" idx="3"/>
          </p:nvPr>
        </p:nvSpPr>
        <p:spPr>
          <a:xfrm>
            <a:off x="6600056" y="5838166"/>
            <a:ext cx="5183188" cy="534033"/>
          </a:xfrm>
        </p:spPr>
        <p:txBody>
          <a:bodyPr>
            <a:normAutofit/>
          </a:bodyPr>
          <a:lstStyle/>
          <a:p>
            <a:r>
              <a:rPr lang="en-NZ" sz="1000" cap="none" dirty="0">
                <a:solidFill>
                  <a:schemeClr val="tx1"/>
                </a:solidFill>
              </a:rPr>
              <a:t>Credit: </a:t>
            </a:r>
            <a:r>
              <a:rPr lang="en-NZ" sz="1000" b="0" i="1" cap="none" dirty="0">
                <a:solidFill>
                  <a:schemeClr val="tx1"/>
                </a:solidFill>
              </a:rPr>
              <a:t>Alpine Butterfly (Hand Method)</a:t>
            </a:r>
            <a:r>
              <a:rPr lang="en-NZ" sz="1000" b="0" cap="none" dirty="0">
                <a:solidFill>
                  <a:schemeClr val="tx1"/>
                </a:solidFill>
              </a:rPr>
              <a:t>. (N.D.). </a:t>
            </a:r>
            <a:r>
              <a:rPr lang="en-NZ" sz="1000" b="0" cap="none" dirty="0" err="1">
                <a:solidFill>
                  <a:schemeClr val="tx1"/>
                </a:solidFill>
              </a:rPr>
              <a:t>Nynix</a:t>
            </a:r>
            <a:r>
              <a:rPr lang="en-NZ" sz="1000" b="0" cap="none" dirty="0">
                <a:solidFill>
                  <a:schemeClr val="tx1"/>
                </a:solidFill>
              </a:rPr>
              <a:t> </a:t>
            </a:r>
            <a:r>
              <a:rPr lang="en-NZ" sz="1000" b="0" cap="none" dirty="0" err="1">
                <a:solidFill>
                  <a:schemeClr val="tx1"/>
                </a:solidFill>
              </a:rPr>
              <a:t>llc</a:t>
            </a:r>
            <a:r>
              <a:rPr lang="en-NZ" sz="1000" b="0" cap="none" dirty="0">
                <a:solidFill>
                  <a:schemeClr val="tx1"/>
                </a:solidFill>
              </a:rPr>
              <a:t>. https://knots3d.com/en/alpine-butterfly-hand-method-knot</a:t>
            </a:r>
          </a:p>
        </p:txBody>
      </p:sp>
      <p:pic>
        <p:nvPicPr>
          <p:cNvPr id="28" name="alpine-butterfly-hand-method-knot">
            <a:hlinkClick r:id="" action="ppaction://media"/>
            <a:extLst>
              <a:ext uri="{FF2B5EF4-FFF2-40B4-BE49-F238E27FC236}">
                <a16:creationId xmlns:a16="http://schemas.microsoft.com/office/drawing/2014/main" id="{A341444D-F2C3-EF35-6ABF-02458380C091}"/>
              </a:ext>
            </a:extLst>
          </p:cNvPr>
          <p:cNvPicPr>
            <a:picLocks noGrp="1" noChangeAspect="1"/>
          </p:cNvPicPr>
          <p:nvPr>
            <p:ph sz="quarter" idx="16"/>
            <a:videoFile r:link="rId4"/>
            <p:extLst>
              <p:ext uri="{DAA4B4D4-6D71-4841-9C94-3DE7FCFB9230}">
                <p14:media xmlns:p14="http://schemas.microsoft.com/office/powerpoint/2010/main" r:embed="rId3"/>
              </p:ext>
            </p:extLst>
          </p:nvPr>
        </p:nvPicPr>
        <p:blipFill>
          <a:blip r:embed="rId8"/>
          <a:stretch>
            <a:fillRect/>
          </a:stretch>
        </p:blipFill>
        <p:spPr>
          <a:xfrm>
            <a:off x="6888163" y="2430463"/>
            <a:ext cx="3854450" cy="2890837"/>
          </a:xfrm>
        </p:spPr>
      </p:pic>
      <p:pic>
        <p:nvPicPr>
          <p:cNvPr id="9" name="Picture 8" descr="New Zealand Response Teams (NZ-RTs) » National Emergency Management Agency">
            <a:extLst>
              <a:ext uri="{FF2B5EF4-FFF2-40B4-BE49-F238E27FC236}">
                <a16:creationId xmlns:a16="http://schemas.microsoft.com/office/drawing/2014/main" id="{48D71FF6-AFCA-5E2E-83C7-9710D592EB9F}"/>
              </a:ext>
            </a:extLst>
          </p:cNvPr>
          <p:cNvPicPr>
            <a:picLocks noChangeAspect="1"/>
          </p:cNvPicPr>
          <p:nvPr/>
        </p:nvPicPr>
        <p:blipFill>
          <a:blip r:embed="rId9"/>
          <a:stretch>
            <a:fillRect/>
          </a:stretch>
        </p:blipFill>
        <p:spPr>
          <a:xfrm>
            <a:off x="10828283" y="143879"/>
            <a:ext cx="1080120" cy="1234938"/>
          </a:xfrm>
          <a:prstGeom prst="rect">
            <a:avLst/>
          </a:prstGeom>
        </p:spPr>
      </p:pic>
      <p:sp>
        <p:nvSpPr>
          <p:cNvPr id="2" name="TextBox 3">
            <a:extLst>
              <a:ext uri="{FF2B5EF4-FFF2-40B4-BE49-F238E27FC236}">
                <a16:creationId xmlns:a16="http://schemas.microsoft.com/office/drawing/2014/main" id="{DE3ED126-35D4-A4C7-1B25-F26473E89AF1}"/>
              </a:ext>
            </a:extLst>
          </p:cNvPr>
          <p:cNvSpPr txBox="1"/>
          <p:nvPr/>
        </p:nvSpPr>
        <p:spPr>
          <a:xfrm>
            <a:off x="407368" y="381977"/>
            <a:ext cx="7472341" cy="814775"/>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ALPINE BUTTERFLY</a:t>
            </a:r>
          </a:p>
        </p:txBody>
      </p:sp>
      <p:sp>
        <p:nvSpPr>
          <p:cNvPr id="3" name="Freeform 4">
            <a:extLst>
              <a:ext uri="{FF2B5EF4-FFF2-40B4-BE49-F238E27FC236}">
                <a16:creationId xmlns:a16="http://schemas.microsoft.com/office/drawing/2014/main" id="{37A8C1AF-6E9B-07C5-FB0A-237577D9CC80}"/>
              </a:ext>
            </a:extLst>
          </p:cNvPr>
          <p:cNvSpPr/>
          <p:nvPr/>
        </p:nvSpPr>
        <p:spPr>
          <a:xfrm>
            <a:off x="283597" y="1062999"/>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10"/>
            <a:stretch>
              <a:fillRect/>
            </a:stretch>
          </a:blipFill>
        </p:spPr>
        <p:txBody>
          <a:bodyPr/>
          <a:lstStyle/>
          <a:p>
            <a:endParaRPr lang="en-US" sz="1200"/>
          </a:p>
        </p:txBody>
      </p:sp>
    </p:spTree>
    <p:extLst>
      <p:ext uri="{BB962C8B-B14F-4D97-AF65-F5344CB8AC3E}">
        <p14:creationId xmlns:p14="http://schemas.microsoft.com/office/powerpoint/2010/main" val="233507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 fill="hold" display="0">
                  <p:stCondLst>
                    <p:cond delay="indefinite"/>
                  </p:stCondLst>
                </p:cTn>
                <p:tgtEl>
                  <p:spTgt spid="23"/>
                </p:tgtEl>
              </p:cMediaNode>
            </p:video>
            <p:seq concurrent="1" nextAc="seek">
              <p:cTn id="12" restart="whenNotActive" fill="hold" evtFilter="cancelBubble" nodeType="interactiveSeq">
                <p:stCondLst>
                  <p:cond evt="onClick" delay="0">
                    <p:tgtEl>
                      <p:spTgt spid="2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3"/>
                                        </p:tgtEl>
                                      </p:cBhvr>
                                    </p:cmd>
                                  </p:childTnLst>
                                </p:cTn>
                              </p:par>
                            </p:childTnLst>
                          </p:cTn>
                        </p:par>
                      </p:childTnLst>
                    </p:cTn>
                  </p:par>
                </p:childTnLst>
              </p:cTn>
              <p:nextCondLst>
                <p:cond evt="onClick" delay="0">
                  <p:tgtEl>
                    <p:spTgt spid="23"/>
                  </p:tgtEl>
                </p:cond>
              </p:nextCondLst>
            </p:seq>
            <p:video>
              <p:cMediaNode vol="80000">
                <p:cTn id="17" fill="hold" display="0">
                  <p:stCondLst>
                    <p:cond delay="indefinite"/>
                  </p:stCondLst>
                </p:cTn>
                <p:tgtEl>
                  <p:spTgt spid="28"/>
                </p:tgtEl>
              </p:cMediaNode>
            </p:video>
            <p:seq concurrent="1" nextAc="seek">
              <p:cTn id="18" restart="whenNotActive" fill="hold" evtFilter="cancelBubble" nodeType="interactiveSeq">
                <p:stCondLst>
                  <p:cond evt="onClick" delay="0">
                    <p:tgtEl>
                      <p:spTgt spid="2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C371-5914-CADC-1437-222E6583EA0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C2CA62F-FC26-E1E7-565C-1088C1F544B6}"/>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DOUBLE FISHERMANS</a:t>
            </a:r>
          </a:p>
        </p:txBody>
      </p:sp>
      <p:sp>
        <p:nvSpPr>
          <p:cNvPr id="4" name="Freeform 4">
            <a:extLst>
              <a:ext uri="{FF2B5EF4-FFF2-40B4-BE49-F238E27FC236}">
                <a16:creationId xmlns:a16="http://schemas.microsoft.com/office/drawing/2014/main" id="{7CC57439-0ADD-F022-899E-EA06FDBE51C1}"/>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687B0BFE-1405-6149-AE01-108C2F86D0B8}"/>
              </a:ext>
            </a:extLst>
          </p:cNvPr>
          <p:cNvSpPr txBox="1"/>
          <p:nvPr/>
        </p:nvSpPr>
        <p:spPr>
          <a:xfrm>
            <a:off x="536448" y="2670547"/>
            <a:ext cx="4911480" cy="2527872"/>
          </a:xfrm>
          <a:prstGeom prst="rect">
            <a:avLst/>
          </a:prstGeom>
        </p:spPr>
        <p:txBody>
          <a:bodyPr wrap="square" lIns="0" tIns="0" rIns="0" bIns="0" rtlCol="0" anchor="t">
            <a:spAutoFit/>
          </a:bodyPr>
          <a:lstStyle/>
          <a:p>
            <a:pPr marL="228600" indent="-228600">
              <a:lnSpc>
                <a:spcPct val="10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The go-to knot for joining two rope ends permanently into a loop — most often used to close a Prusik sling. Very strong, but hard to untie once loaded.</a:t>
            </a:r>
          </a:p>
          <a:p>
            <a:pPr marL="228600" indent="-228600">
              <a:lnSpc>
                <a:spcPct val="11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Pros:</a:t>
            </a:r>
            <a:r>
              <a:rPr lang="en-NZ" sz="1400" dirty="0">
                <a:latin typeface="Roboto" panose="02000000000000000000" pitchFamily="2" charset="0"/>
                <a:ea typeface="Roboto" panose="02000000000000000000" pitchFamily="2" charset="0"/>
                <a:cs typeface="Roboto" panose="02000000000000000000" pitchFamily="2" charset="0"/>
              </a:rPr>
              <a:t> The Double Fisherman’s is a well known, reliable, compact knot suitable for use when retrieving an abseil.</a:t>
            </a:r>
          </a:p>
          <a:p>
            <a:pPr marL="228600" indent="-228600">
              <a:lnSpc>
                <a:spcPct val="11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Cons:</a:t>
            </a:r>
            <a:r>
              <a:rPr lang="en-NZ" sz="1400" dirty="0">
                <a:latin typeface="Roboto" panose="02000000000000000000" pitchFamily="2" charset="0"/>
                <a:ea typeface="Roboto" panose="02000000000000000000" pitchFamily="2" charset="0"/>
                <a:cs typeface="Roboto" panose="02000000000000000000" pitchFamily="2" charset="0"/>
              </a:rPr>
              <a:t> The Double Fisherman can lock up so tightly that it is effectively welded. </a:t>
            </a:r>
          </a:p>
          <a:p>
            <a:pPr marL="228600" indent="-228600">
              <a:lnSpc>
                <a:spcPct val="110000"/>
              </a:lnSpc>
              <a:buFont typeface="Arial" panose="020B0604020202020204" pitchFamily="34" charset="0"/>
              <a:buChar char="•"/>
            </a:pPr>
            <a:r>
              <a:rPr lang="en-NZ" sz="1400" b="1" dirty="0">
                <a:solidFill>
                  <a:srgbClr val="FF0000"/>
                </a:solidFill>
                <a:latin typeface="Roboto" panose="02000000000000000000" pitchFamily="2" charset="0"/>
                <a:ea typeface="Roboto" panose="02000000000000000000" pitchFamily="2" charset="0"/>
                <a:cs typeface="Roboto" panose="02000000000000000000" pitchFamily="2" charset="0"/>
              </a:rPr>
              <a:t>Warning: </a:t>
            </a:r>
            <a:r>
              <a:rPr lang="en-NZ" sz="1400" dirty="0">
                <a:latin typeface="Roboto" panose="02000000000000000000" pitchFamily="2" charset="0"/>
                <a:ea typeface="Roboto" panose="02000000000000000000" pitchFamily="2" charset="0"/>
                <a:cs typeface="Roboto" panose="02000000000000000000" pitchFamily="2" charset="0"/>
              </a:rPr>
              <a:t>For the Animation, the ends were left short. For critical loads, the ends must be left much longer.</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Tying two lengths of rope together</a:t>
            </a:r>
          </a:p>
        </p:txBody>
      </p:sp>
      <p:sp>
        <p:nvSpPr>
          <p:cNvPr id="9" name="Freeform 9">
            <a:extLst>
              <a:ext uri="{FF2B5EF4-FFF2-40B4-BE49-F238E27FC236}">
                <a16:creationId xmlns:a16="http://schemas.microsoft.com/office/drawing/2014/main" id="{E3BCAB41-7471-A413-4C6B-FD2129AC64D3}"/>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729CA363-5146-CBA0-2362-7B660F933308}"/>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FD864618-76CA-74B6-E759-DCC6EB3AE697}"/>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335DA409-C06B-E219-19A0-88ACFEFE9A40}"/>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BEND</a:t>
            </a:r>
          </a:p>
        </p:txBody>
      </p:sp>
      <p:pic>
        <p:nvPicPr>
          <p:cNvPr id="13" name="Picture 12" descr="New Zealand Response Teams (NZ-RTs) » National Emergency Management Agency">
            <a:extLst>
              <a:ext uri="{FF2B5EF4-FFF2-40B4-BE49-F238E27FC236}">
                <a16:creationId xmlns:a16="http://schemas.microsoft.com/office/drawing/2014/main" id="{6E0BEBBB-6B9C-7732-3F78-538C28EC2CF1}"/>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ABD3EEAC-70C6-758A-C9B3-5C918214692A}"/>
              </a:ext>
            </a:extLst>
          </p:cNvPr>
          <p:cNvSpPr txBox="1"/>
          <p:nvPr/>
        </p:nvSpPr>
        <p:spPr>
          <a:xfrm>
            <a:off x="6015505" y="5784522"/>
            <a:ext cx="5883275" cy="553998"/>
          </a:xfrm>
          <a:prstGeom prst="rect">
            <a:avLst/>
          </a:prstGeom>
          <a:noFill/>
        </p:spPr>
        <p:txBody>
          <a:bodyPr wrap="square" rtlCol="0">
            <a:spAutoFit/>
          </a:bodyPr>
          <a:lstStyle/>
          <a:p>
            <a:r>
              <a:rPr lang="en-NZ" sz="1000" b="1" dirty="0"/>
              <a:t>Credit: </a:t>
            </a:r>
            <a:r>
              <a:rPr lang="en-NZ" sz="1000" i="1" dirty="0"/>
              <a:t>Double Fisherman’s Bend | How to tie a Double Fisherman’s Bend using Step-by-Step Animations | Animated Knots by Grog</a:t>
            </a:r>
            <a:r>
              <a:rPr lang="en-NZ" sz="1000" dirty="0"/>
              <a:t>. (2019, May 8). Animated Knots by Grog. https://</a:t>
            </a:r>
            <a:r>
              <a:rPr lang="en-NZ" sz="1000" dirty="0" err="1"/>
              <a:t>www.animatedknots.com</a:t>
            </a:r>
            <a:r>
              <a:rPr lang="en-NZ" sz="1000" dirty="0"/>
              <a:t>/double-</a:t>
            </a:r>
            <a:r>
              <a:rPr lang="en-NZ" sz="1000" dirty="0" err="1"/>
              <a:t>fishermans</a:t>
            </a:r>
            <a:r>
              <a:rPr lang="en-NZ" sz="1000" dirty="0"/>
              <a:t>-bend-knot</a:t>
            </a:r>
          </a:p>
        </p:txBody>
      </p:sp>
      <p:pic>
        <p:nvPicPr>
          <p:cNvPr id="7" name="Online Media 2" title="How to Tie the Double Fisherman's Knot">
            <a:hlinkClick r:id="" action="ppaction://media"/>
            <a:extLst>
              <a:ext uri="{FF2B5EF4-FFF2-40B4-BE49-F238E27FC236}">
                <a16:creationId xmlns:a16="http://schemas.microsoft.com/office/drawing/2014/main" id="{BAA3C5D9-4E4E-4260-5372-05FDABA1F61B}"/>
              </a:ext>
            </a:extLst>
          </p:cNvPr>
          <p:cNvPicPr>
            <a:picLocks noRot="1" noChangeAspect="1"/>
          </p:cNvPicPr>
          <p:nvPr>
            <a:videoFile r:link="rId1"/>
          </p:nvPr>
        </p:nvPicPr>
        <p:blipFill>
          <a:blip r:embed="rId6"/>
          <a:stretch>
            <a:fillRect/>
          </a:stretch>
        </p:blipFill>
        <p:spPr>
          <a:xfrm>
            <a:off x="6025128" y="1766887"/>
            <a:ext cx="5883570" cy="3324225"/>
          </a:xfrm>
          <a:prstGeom prst="rect">
            <a:avLst/>
          </a:prstGeom>
        </p:spPr>
      </p:pic>
    </p:spTree>
    <p:extLst>
      <p:ext uri="{BB962C8B-B14F-4D97-AF65-F5344CB8AC3E}">
        <p14:creationId xmlns:p14="http://schemas.microsoft.com/office/powerpoint/2010/main" val="146328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C371-5914-CADC-1437-222E6583EA0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C2CA62F-FC26-E1E7-565C-1088C1F544B6}"/>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PRUSIK </a:t>
            </a:r>
          </a:p>
          <a:p>
            <a:pPr>
              <a:lnSpc>
                <a:spcPts val="5981"/>
              </a:lnSpc>
            </a:pPr>
            <a:r>
              <a:rPr lang="en-US" sz="7020" b="1" spc="175" dirty="0">
                <a:solidFill>
                  <a:srgbClr val="001124"/>
                </a:solidFill>
                <a:latin typeface="Bebas Neue Bold"/>
                <a:ea typeface="Bebas Neue Bold"/>
                <a:cs typeface="Bebas Neue Bold"/>
                <a:sym typeface="Bebas Neue Bold"/>
              </a:rPr>
              <a:t>KNOT</a:t>
            </a:r>
          </a:p>
        </p:txBody>
      </p:sp>
      <p:sp>
        <p:nvSpPr>
          <p:cNvPr id="4" name="Freeform 4">
            <a:extLst>
              <a:ext uri="{FF2B5EF4-FFF2-40B4-BE49-F238E27FC236}">
                <a16:creationId xmlns:a16="http://schemas.microsoft.com/office/drawing/2014/main" id="{7CC57439-0ADD-F022-899E-EA06FDBE51C1}"/>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687B0BFE-1405-6149-AE01-108C2F86D0B8}"/>
              </a:ext>
            </a:extLst>
          </p:cNvPr>
          <p:cNvSpPr txBox="1"/>
          <p:nvPr/>
        </p:nvSpPr>
        <p:spPr>
          <a:xfrm>
            <a:off x="536448" y="2670547"/>
            <a:ext cx="4911480" cy="2183162"/>
          </a:xfrm>
          <a:prstGeom prst="rect">
            <a:avLst/>
          </a:prstGeom>
        </p:spPr>
        <p:txBody>
          <a:bodyPr wrap="square" lIns="0" tIns="0" rIns="0" bIns="0" rtlCol="0" anchor="t">
            <a:spAutoFit/>
          </a:bodyPr>
          <a:lstStyle/>
          <a:p>
            <a:pPr marL="228600" indent="-228600">
              <a:lnSpc>
                <a:spcPct val="10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Attaches a cord sling to a rope as an adjustable friction grip — slides freely under no load, and locks under load. The cord must be at least 3mm smaller in diameter than the main rope for it to work.</a:t>
            </a:r>
          </a:p>
          <a:p>
            <a:pPr marL="228600" indent="-228600">
              <a:lnSpc>
                <a:spcPct val="10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Making Prusik Loops:</a:t>
            </a:r>
            <a:r>
              <a:rPr lang="en-NZ" sz="1400" dirty="0">
                <a:latin typeface="Roboto" panose="02000000000000000000" pitchFamily="2" charset="0"/>
                <a:ea typeface="Roboto" panose="02000000000000000000" pitchFamily="2" charset="0"/>
                <a:cs typeface="Roboto" panose="02000000000000000000" pitchFamily="2" charset="0"/>
              </a:rPr>
              <a:t> Prusik loops may be constructed by joining together the two ends of an accessory cord (5 or 6 mm) using a Double Fisherman’s Bend.</a:t>
            </a:r>
          </a:p>
          <a:p>
            <a:pPr marL="228600" indent="-228600">
              <a:buFont typeface="Arial" panose="020B0604020202020204" pitchFamily="34" charset="0"/>
              <a:buChar char="•"/>
            </a:pPr>
            <a:r>
              <a:rPr lang="en-NZ" sz="1400" b="1" dirty="0">
                <a:solidFill>
                  <a:srgbClr val="FF0000"/>
                </a:solidFill>
                <a:latin typeface="Roboto" panose="02000000000000000000" pitchFamily="2" charset="0"/>
                <a:ea typeface="Roboto" panose="02000000000000000000" pitchFamily="2" charset="0"/>
                <a:cs typeface="Roboto" panose="02000000000000000000" pitchFamily="2" charset="0"/>
              </a:rPr>
              <a:t>Warning: </a:t>
            </a:r>
            <a:r>
              <a:rPr lang="en-NZ" sz="1400" dirty="0">
                <a:latin typeface="Roboto" panose="02000000000000000000" pitchFamily="2" charset="0"/>
                <a:ea typeface="Roboto" panose="02000000000000000000" pitchFamily="2" charset="0"/>
                <a:cs typeface="Roboto" panose="02000000000000000000" pitchFamily="2" charset="0"/>
              </a:rPr>
              <a:t>Must never be shock loaded.</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 Abseiling?</a:t>
            </a:r>
          </a:p>
        </p:txBody>
      </p:sp>
      <p:sp>
        <p:nvSpPr>
          <p:cNvPr id="9" name="Freeform 9">
            <a:extLst>
              <a:ext uri="{FF2B5EF4-FFF2-40B4-BE49-F238E27FC236}">
                <a16:creationId xmlns:a16="http://schemas.microsoft.com/office/drawing/2014/main" id="{E3BCAB41-7471-A413-4C6B-FD2129AC64D3}"/>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729CA363-5146-CBA0-2362-7B660F933308}"/>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FD864618-76CA-74B6-E759-DCC6EB3AE697}"/>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335DA409-C06B-E219-19A0-88ACFEFE9A40}"/>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LOOP</a:t>
            </a:r>
          </a:p>
        </p:txBody>
      </p:sp>
      <p:pic>
        <p:nvPicPr>
          <p:cNvPr id="13" name="Picture 12" descr="New Zealand Response Teams (NZ-RTs) » National Emergency Management Agency">
            <a:extLst>
              <a:ext uri="{FF2B5EF4-FFF2-40B4-BE49-F238E27FC236}">
                <a16:creationId xmlns:a16="http://schemas.microsoft.com/office/drawing/2014/main" id="{6E0BEBBB-6B9C-7732-3F78-538C28EC2CF1}"/>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ABD3EEAC-70C6-758A-C9B3-5C918214692A}"/>
              </a:ext>
            </a:extLst>
          </p:cNvPr>
          <p:cNvSpPr txBox="1"/>
          <p:nvPr/>
        </p:nvSpPr>
        <p:spPr>
          <a:xfrm>
            <a:off x="6015505" y="5784522"/>
            <a:ext cx="5883275" cy="553998"/>
          </a:xfrm>
          <a:prstGeom prst="rect">
            <a:avLst/>
          </a:prstGeom>
          <a:noFill/>
        </p:spPr>
        <p:txBody>
          <a:bodyPr wrap="square" rtlCol="0">
            <a:spAutoFit/>
          </a:bodyPr>
          <a:lstStyle/>
          <a:p>
            <a:r>
              <a:rPr lang="en-NZ" sz="1000" b="1" dirty="0"/>
              <a:t>Credit: </a:t>
            </a:r>
            <a:r>
              <a:rPr lang="en-NZ" sz="1000" i="1" dirty="0"/>
              <a:t>Prusik Knot | How to tie a Prusik Knot using Step-by-Step Animations | Animated Knots by Grog</a:t>
            </a:r>
            <a:r>
              <a:rPr lang="en-NZ" sz="1000" dirty="0"/>
              <a:t>. (2019, May 16). Animated Knots by Grog. https://</a:t>
            </a:r>
            <a:r>
              <a:rPr lang="en-NZ" sz="1000" dirty="0" err="1"/>
              <a:t>www.animatedknots.com</a:t>
            </a:r>
            <a:r>
              <a:rPr lang="en-NZ" sz="1000" dirty="0"/>
              <a:t>/prusik-knot</a:t>
            </a:r>
          </a:p>
          <a:p>
            <a:endParaRPr lang="en-NZ" sz="1000" dirty="0"/>
          </a:p>
        </p:txBody>
      </p:sp>
      <p:pic>
        <p:nvPicPr>
          <p:cNvPr id="6" name="Online Media 2" title="How to Tie the Prusik Knot">
            <a:hlinkClick r:id="" action="ppaction://media"/>
            <a:extLst>
              <a:ext uri="{FF2B5EF4-FFF2-40B4-BE49-F238E27FC236}">
                <a16:creationId xmlns:a16="http://schemas.microsoft.com/office/drawing/2014/main" id="{123ACB42-F3E4-5E16-E9C2-F6AF963BDD02}"/>
              </a:ext>
            </a:extLst>
          </p:cNvPr>
          <p:cNvPicPr>
            <a:picLocks noRot="1" noChangeAspect="1"/>
          </p:cNvPicPr>
          <p:nvPr>
            <a:videoFile r:link="rId1"/>
          </p:nvPr>
        </p:nvPicPr>
        <p:blipFill>
          <a:blip r:embed="rId6"/>
          <a:stretch>
            <a:fillRect/>
          </a:stretch>
        </p:blipFill>
        <p:spPr>
          <a:xfrm>
            <a:off x="6026003" y="1767218"/>
            <a:ext cx="5882400" cy="3323564"/>
          </a:xfrm>
          <a:prstGeom prst="rect">
            <a:avLst/>
          </a:prstGeom>
        </p:spPr>
      </p:pic>
    </p:spTree>
    <p:extLst>
      <p:ext uri="{BB962C8B-B14F-4D97-AF65-F5344CB8AC3E}">
        <p14:creationId xmlns:p14="http://schemas.microsoft.com/office/powerpoint/2010/main" val="61972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C371-5914-CADC-1437-222E6583EA0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C2CA62F-FC26-E1E7-565C-1088C1F544B6}"/>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TAPE</a:t>
            </a:r>
          </a:p>
          <a:p>
            <a:pPr>
              <a:lnSpc>
                <a:spcPts val="5981"/>
              </a:lnSpc>
            </a:pPr>
            <a:r>
              <a:rPr lang="en-US" sz="7020" b="1" spc="175" dirty="0">
                <a:solidFill>
                  <a:srgbClr val="001124"/>
                </a:solidFill>
                <a:latin typeface="Bebas Neue Bold"/>
                <a:ea typeface="Bebas Neue Bold"/>
                <a:cs typeface="Bebas Neue Bold"/>
                <a:sym typeface="Bebas Neue Bold"/>
              </a:rPr>
              <a:t>KNOT</a:t>
            </a:r>
          </a:p>
        </p:txBody>
      </p:sp>
      <p:sp>
        <p:nvSpPr>
          <p:cNvPr id="4" name="Freeform 4">
            <a:extLst>
              <a:ext uri="{FF2B5EF4-FFF2-40B4-BE49-F238E27FC236}">
                <a16:creationId xmlns:a16="http://schemas.microsoft.com/office/drawing/2014/main" id="{7CC57439-0ADD-F022-899E-EA06FDBE51C1}"/>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txBody>
          <a:bodyPr/>
          <a:lstStyle/>
          <a:p>
            <a:endParaRPr lang="en-US" sz="1200"/>
          </a:p>
        </p:txBody>
      </p:sp>
      <p:sp>
        <p:nvSpPr>
          <p:cNvPr id="5" name="TextBox 5">
            <a:extLst>
              <a:ext uri="{FF2B5EF4-FFF2-40B4-BE49-F238E27FC236}">
                <a16:creationId xmlns:a16="http://schemas.microsoft.com/office/drawing/2014/main" id="{687B0BFE-1405-6149-AE01-108C2F86D0B8}"/>
              </a:ext>
            </a:extLst>
          </p:cNvPr>
          <p:cNvSpPr txBox="1"/>
          <p:nvPr/>
        </p:nvSpPr>
        <p:spPr>
          <a:xfrm>
            <a:off x="536448" y="2670547"/>
            <a:ext cx="4911480" cy="2075440"/>
          </a:xfrm>
          <a:prstGeom prst="rect">
            <a:avLst/>
          </a:prstGeom>
        </p:spPr>
        <p:txBody>
          <a:bodyPr wrap="square" lIns="0" tIns="0" rIns="0" bIns="0" rtlCol="0" anchor="t">
            <a:spAutoFit/>
          </a:bodyPr>
          <a:lstStyle/>
          <a:p>
            <a:pPr marL="228600" indent="-228600">
              <a:lnSpc>
                <a:spcPct val="110000"/>
              </a:lnSpc>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Other Names:</a:t>
            </a:r>
            <a:r>
              <a:rPr lang="en-NZ" sz="1400" dirty="0">
                <a:latin typeface="Roboto" panose="02000000000000000000" pitchFamily="2" charset="0"/>
                <a:ea typeface="Roboto" panose="02000000000000000000" pitchFamily="2" charset="0"/>
                <a:cs typeface="Roboto" panose="02000000000000000000" pitchFamily="2" charset="0"/>
              </a:rPr>
              <a:t> The Tape Knot is also known by various other names including: Water Knot, Ring Bend, Grass Knot, and Overhand Follow-Through.</a:t>
            </a:r>
          </a:p>
          <a:p>
            <a:pPr marL="228600" indent="-22860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Joins two pieces of webbing strapping by re-threading.</a:t>
            </a:r>
          </a:p>
          <a:p>
            <a:pPr marL="228600" indent="-228600">
              <a:lnSpc>
                <a:spcPct val="110000"/>
              </a:lnSpc>
              <a:buFont typeface="Arial" panose="020B0604020202020204" pitchFamily="34" charset="0"/>
              <a:buChar char="•"/>
            </a:pPr>
            <a:r>
              <a:rPr lang="en-NZ" sz="1400" b="1" dirty="0">
                <a:solidFill>
                  <a:srgbClr val="C00000"/>
                </a:solidFill>
                <a:latin typeface="Roboto" panose="02000000000000000000" pitchFamily="2" charset="0"/>
                <a:ea typeface="Roboto" panose="02000000000000000000" pitchFamily="2" charset="0"/>
                <a:cs typeface="Roboto" panose="02000000000000000000" pitchFamily="2" charset="0"/>
              </a:rPr>
              <a:t>Warning</a:t>
            </a:r>
            <a:r>
              <a:rPr lang="en-NZ" sz="1400" b="1" dirty="0">
                <a:latin typeface="Roboto" panose="02000000000000000000" pitchFamily="2" charset="0"/>
                <a:ea typeface="Roboto" panose="02000000000000000000" pitchFamily="2" charset="0"/>
                <a:cs typeface="Roboto" panose="02000000000000000000" pitchFamily="2" charset="0"/>
              </a:rPr>
              <a:t>: </a:t>
            </a:r>
            <a:r>
              <a:rPr lang="en-NZ" sz="1400" dirty="0">
                <a:latin typeface="Roboto" panose="02000000000000000000" pitchFamily="2" charset="0"/>
                <a:ea typeface="Roboto" panose="02000000000000000000" pitchFamily="2" charset="0"/>
                <a:cs typeface="Roboto" panose="02000000000000000000" pitchFamily="2" charset="0"/>
              </a:rPr>
              <a:t>For the Animation, the ends were left short. For critical loads, the ends must be left much longer.</a:t>
            </a:r>
          </a:p>
          <a:p>
            <a:pPr marL="228600" indent="-228600">
              <a:lnSpc>
                <a:spcPct val="110000"/>
              </a:lnSpc>
              <a:buFont typeface="Arial" panose="020B0604020202020204" pitchFamily="34" charset="0"/>
              <a:buChar char="•"/>
            </a:pPr>
            <a:r>
              <a:rPr lang="en-US" sz="140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40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400" dirty="0">
                <a:latin typeface="Roboto" panose="02000000000000000000" pitchFamily="2" charset="0"/>
                <a:ea typeface="Roboto" panose="02000000000000000000" pitchFamily="2" charset="0"/>
                <a:cs typeface="Roboto" panose="02000000000000000000" pitchFamily="2" charset="0"/>
              </a:rPr>
              <a:t>Anchors</a:t>
            </a:r>
          </a:p>
        </p:txBody>
      </p:sp>
      <p:sp>
        <p:nvSpPr>
          <p:cNvPr id="9" name="Freeform 9">
            <a:extLst>
              <a:ext uri="{FF2B5EF4-FFF2-40B4-BE49-F238E27FC236}">
                <a16:creationId xmlns:a16="http://schemas.microsoft.com/office/drawing/2014/main" id="{E3BCAB41-7471-A413-4C6B-FD2129AC64D3}"/>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4"/>
            <a:stretch>
              <a:fillRect/>
            </a:stretch>
          </a:blipFill>
        </p:spPr>
        <p:txBody>
          <a:bodyPr/>
          <a:lstStyle/>
          <a:p>
            <a:endParaRPr lang="en-US" sz="1200"/>
          </a:p>
        </p:txBody>
      </p:sp>
      <p:sp>
        <p:nvSpPr>
          <p:cNvPr id="10" name="TextBox 10">
            <a:extLst>
              <a:ext uri="{FF2B5EF4-FFF2-40B4-BE49-F238E27FC236}">
                <a16:creationId xmlns:a16="http://schemas.microsoft.com/office/drawing/2014/main" id="{729CA363-5146-CBA0-2362-7B660F933308}"/>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FD864618-76CA-74B6-E759-DCC6EB3AE697}"/>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335DA409-C06B-E219-19A0-88ACFEFE9A40}"/>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BEND</a:t>
            </a:r>
          </a:p>
        </p:txBody>
      </p:sp>
      <p:pic>
        <p:nvPicPr>
          <p:cNvPr id="13" name="Picture 12" descr="New Zealand Response Teams (NZ-RTs) » National Emergency Management Agency">
            <a:extLst>
              <a:ext uri="{FF2B5EF4-FFF2-40B4-BE49-F238E27FC236}">
                <a16:creationId xmlns:a16="http://schemas.microsoft.com/office/drawing/2014/main" id="{6E0BEBBB-6B9C-7732-3F78-538C28EC2CF1}"/>
              </a:ext>
            </a:extLst>
          </p:cNvPr>
          <p:cNvPicPr>
            <a:picLocks noChangeAspect="1"/>
          </p:cNvPicPr>
          <p:nvPr/>
        </p:nvPicPr>
        <p:blipFill>
          <a:blip r:embed="rId5"/>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ABD3EEAC-70C6-758A-C9B3-5C918214692A}"/>
              </a:ext>
            </a:extLst>
          </p:cNvPr>
          <p:cNvSpPr txBox="1"/>
          <p:nvPr/>
        </p:nvSpPr>
        <p:spPr>
          <a:xfrm>
            <a:off x="6015505" y="5784522"/>
            <a:ext cx="5883275" cy="707886"/>
          </a:xfrm>
          <a:prstGeom prst="rect">
            <a:avLst/>
          </a:prstGeom>
          <a:noFill/>
        </p:spPr>
        <p:txBody>
          <a:bodyPr wrap="square" rtlCol="0">
            <a:spAutoFit/>
          </a:bodyPr>
          <a:lstStyle/>
          <a:p>
            <a:r>
              <a:rPr lang="en-NZ" sz="1000" b="1" dirty="0"/>
              <a:t>Credit: </a:t>
            </a:r>
            <a:r>
              <a:rPr lang="en-NZ" sz="1000" i="1" dirty="0"/>
              <a:t>Water Knot | How to tie a Water Knot using Step-by-Step Animations | Animated Knots by Grog</a:t>
            </a:r>
            <a:r>
              <a:rPr lang="en-NZ" sz="1000" dirty="0"/>
              <a:t>. (2019, May 9). Animated Knots by Grog. https://</a:t>
            </a:r>
            <a:r>
              <a:rPr lang="en-NZ" sz="1000" dirty="0" err="1"/>
              <a:t>www.animatedknots.com</a:t>
            </a:r>
            <a:r>
              <a:rPr lang="en-NZ" sz="1000" dirty="0"/>
              <a:t>/water-knot</a:t>
            </a:r>
          </a:p>
          <a:p>
            <a:endParaRPr lang="en-NZ" sz="1000" dirty="0"/>
          </a:p>
          <a:p>
            <a:endParaRPr lang="en-NZ" sz="1000" dirty="0"/>
          </a:p>
        </p:txBody>
      </p:sp>
      <p:pic>
        <p:nvPicPr>
          <p:cNvPr id="7" name="Online Media 3" title="Water Knot | How to Tie the Water Knot">
            <a:hlinkClick r:id="" action="ppaction://media"/>
            <a:extLst>
              <a:ext uri="{FF2B5EF4-FFF2-40B4-BE49-F238E27FC236}">
                <a16:creationId xmlns:a16="http://schemas.microsoft.com/office/drawing/2014/main" id="{3FED487B-68C1-F6FD-5B8F-26D236DC9AE6}"/>
              </a:ext>
            </a:extLst>
          </p:cNvPr>
          <p:cNvPicPr>
            <a:picLocks noRot="1" noChangeAspect="1"/>
          </p:cNvPicPr>
          <p:nvPr>
            <a:videoFile r:link="rId1"/>
          </p:nvPr>
        </p:nvPicPr>
        <p:blipFill>
          <a:blip r:embed="rId6"/>
          <a:stretch>
            <a:fillRect/>
          </a:stretch>
        </p:blipFill>
        <p:spPr>
          <a:xfrm>
            <a:off x="6025128" y="1767218"/>
            <a:ext cx="5882400" cy="3323564"/>
          </a:xfrm>
          <a:prstGeom prst="rect">
            <a:avLst/>
          </a:prstGeom>
        </p:spPr>
      </p:pic>
    </p:spTree>
    <p:extLst>
      <p:ext uri="{BB962C8B-B14F-4D97-AF65-F5344CB8AC3E}">
        <p14:creationId xmlns:p14="http://schemas.microsoft.com/office/powerpoint/2010/main" val="300949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3BDDB-24C3-3338-C175-90DC824C610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74F43E9-F0EB-B839-8B58-44282D6E9D73}"/>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MUNTER HITCH</a:t>
            </a:r>
          </a:p>
        </p:txBody>
      </p:sp>
      <p:sp>
        <p:nvSpPr>
          <p:cNvPr id="4" name="Freeform 4">
            <a:extLst>
              <a:ext uri="{FF2B5EF4-FFF2-40B4-BE49-F238E27FC236}">
                <a16:creationId xmlns:a16="http://schemas.microsoft.com/office/drawing/2014/main" id="{BECCE5BB-C45F-8F83-0111-16ACA3E613B7}"/>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5"/>
            <a:stretch>
              <a:fillRect/>
            </a:stretch>
          </a:blipFill>
        </p:spPr>
        <p:txBody>
          <a:bodyPr/>
          <a:lstStyle/>
          <a:p>
            <a:endParaRPr lang="en-US" sz="1200"/>
          </a:p>
        </p:txBody>
      </p:sp>
      <p:sp>
        <p:nvSpPr>
          <p:cNvPr id="5" name="TextBox 5">
            <a:extLst>
              <a:ext uri="{FF2B5EF4-FFF2-40B4-BE49-F238E27FC236}">
                <a16:creationId xmlns:a16="http://schemas.microsoft.com/office/drawing/2014/main" id="{7F264312-B1F3-1A50-3F06-5E4F70D4076C}"/>
              </a:ext>
            </a:extLst>
          </p:cNvPr>
          <p:cNvSpPr txBox="1"/>
          <p:nvPr/>
        </p:nvSpPr>
        <p:spPr>
          <a:xfrm>
            <a:off x="536448" y="2670547"/>
            <a:ext cx="4911480" cy="2728439"/>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Uses:</a:t>
            </a:r>
            <a:r>
              <a:rPr lang="en-NZ" sz="1350" dirty="0">
                <a:latin typeface="Roboto" panose="02000000000000000000" pitchFamily="2" charset="0"/>
                <a:ea typeface="Roboto" panose="02000000000000000000" pitchFamily="2" charset="0"/>
                <a:cs typeface="Roboto" panose="02000000000000000000" pitchFamily="2" charset="0"/>
              </a:rPr>
              <a:t> </a:t>
            </a:r>
            <a:r>
              <a:rPr lang="en-AU" sz="1350" dirty="0">
                <a:latin typeface="Roboto" panose="02000000000000000000" pitchFamily="2" charset="0"/>
                <a:ea typeface="Roboto" panose="02000000000000000000" pitchFamily="2" charset="0"/>
                <a:cs typeface="Roboto" panose="02000000000000000000" pitchFamily="2" charset="0"/>
              </a:rPr>
              <a:t>Creates controllable friction directly on a karabiner for lowering or raising a line - no separate belay device needed.</a:t>
            </a:r>
          </a:p>
          <a:p>
            <a:pPr marL="228600" indent="-228600">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Requirements:</a:t>
            </a:r>
            <a:r>
              <a:rPr lang="en-NZ" sz="1350" dirty="0">
                <a:latin typeface="Roboto" panose="02000000000000000000" pitchFamily="2" charset="0"/>
                <a:ea typeface="Roboto" panose="02000000000000000000" pitchFamily="2" charset="0"/>
                <a:cs typeface="Roboto" panose="02000000000000000000" pitchFamily="2" charset="0"/>
              </a:rPr>
              <a:t> Use a carabiner large enough to allow the Munter Hitch Knot to be inverted through the carabiner when pulled. </a:t>
            </a:r>
          </a:p>
          <a:p>
            <a:pPr marL="228600" indent="-228600">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Advantages:</a:t>
            </a:r>
            <a:r>
              <a:rPr lang="en-NZ" sz="1350" dirty="0">
                <a:latin typeface="Roboto" panose="02000000000000000000" pitchFamily="2" charset="0"/>
                <a:ea typeface="Roboto" panose="02000000000000000000" pitchFamily="2" charset="0"/>
                <a:cs typeface="Roboto" panose="02000000000000000000" pitchFamily="2" charset="0"/>
              </a:rPr>
              <a:t> The greatest advantage of the Munter is that it can be used with minimum equipment – just a locking carabiner.</a:t>
            </a:r>
          </a:p>
          <a:p>
            <a:pPr marL="228600" indent="-228600">
              <a:buFont typeface="Arial" panose="020B0604020202020204" pitchFamily="34" charset="0"/>
              <a:buChar char="•"/>
            </a:pPr>
            <a:r>
              <a:rPr lang="en-NZ" sz="1350" b="1" dirty="0">
                <a:latin typeface="Roboto" panose="02000000000000000000" pitchFamily="2" charset="0"/>
                <a:ea typeface="Roboto" panose="02000000000000000000" pitchFamily="2" charset="0"/>
                <a:cs typeface="Roboto" panose="02000000000000000000" pitchFamily="2" charset="0"/>
              </a:rPr>
              <a:t>Disadvantages:</a:t>
            </a:r>
            <a:r>
              <a:rPr lang="en-NZ" sz="1350" dirty="0">
                <a:latin typeface="Roboto" panose="02000000000000000000" pitchFamily="2" charset="0"/>
                <a:ea typeface="Roboto" panose="02000000000000000000" pitchFamily="2" charset="0"/>
                <a:cs typeface="Roboto" panose="02000000000000000000" pitchFamily="2" charset="0"/>
              </a:rPr>
              <a:t> The Munter Hitch Knot kinks the rope, imparts a twist to it during descent, and also makes the rope fuzzy if used often.</a:t>
            </a:r>
          </a:p>
          <a:p>
            <a:pPr marL="228600" indent="-228600">
              <a:lnSpc>
                <a:spcPct val="110000"/>
              </a:lnSpc>
              <a:buFont typeface="Arial" panose="020B0604020202020204" pitchFamily="34" charset="0"/>
              <a:buChar char="•"/>
            </a:pPr>
            <a:r>
              <a:rPr lang="en-US" sz="135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35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350" dirty="0">
                <a:latin typeface="Roboto" panose="02000000000000000000" pitchFamily="2" charset="0"/>
                <a:ea typeface="Roboto" panose="02000000000000000000" pitchFamily="2" charset="0"/>
                <a:cs typeface="Roboto" panose="02000000000000000000" pitchFamily="2" charset="0"/>
              </a:rPr>
              <a:t>Roofing Systems</a:t>
            </a:r>
          </a:p>
        </p:txBody>
      </p:sp>
      <p:sp>
        <p:nvSpPr>
          <p:cNvPr id="9" name="Freeform 9">
            <a:extLst>
              <a:ext uri="{FF2B5EF4-FFF2-40B4-BE49-F238E27FC236}">
                <a16:creationId xmlns:a16="http://schemas.microsoft.com/office/drawing/2014/main" id="{32E326E1-F750-3710-83BA-BDB84711A2BB}"/>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6"/>
            <a:stretch>
              <a:fillRect/>
            </a:stretch>
          </a:blipFill>
        </p:spPr>
        <p:txBody>
          <a:bodyPr/>
          <a:lstStyle/>
          <a:p>
            <a:endParaRPr lang="en-US" sz="1200"/>
          </a:p>
        </p:txBody>
      </p:sp>
      <p:sp>
        <p:nvSpPr>
          <p:cNvPr id="10" name="TextBox 10">
            <a:extLst>
              <a:ext uri="{FF2B5EF4-FFF2-40B4-BE49-F238E27FC236}">
                <a16:creationId xmlns:a16="http://schemas.microsoft.com/office/drawing/2014/main" id="{7D759E82-4343-F776-CC22-604B256A4AE7}"/>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084D3CCA-14E2-637C-1050-01F1A9860EF3}"/>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0714945F-D328-7D0B-3BEA-62A9686D56B1}"/>
              </a:ext>
            </a:extLst>
          </p:cNvPr>
          <p:cNvSpPr txBox="1"/>
          <p:nvPr/>
        </p:nvSpPr>
        <p:spPr>
          <a:xfrm>
            <a:off x="3572256" y="5929820"/>
            <a:ext cx="621792" cy="257571"/>
          </a:xfrm>
          <a:prstGeom prst="rect">
            <a:avLst/>
          </a:prstGeom>
        </p:spPr>
        <p:txBody>
          <a:bodyPr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HITCH</a:t>
            </a:r>
          </a:p>
        </p:txBody>
      </p:sp>
      <p:pic>
        <p:nvPicPr>
          <p:cNvPr id="13" name="Picture 12" descr="New Zealand Response Teams (NZ-RTs) » National Emergency Management Agency">
            <a:extLst>
              <a:ext uri="{FF2B5EF4-FFF2-40B4-BE49-F238E27FC236}">
                <a16:creationId xmlns:a16="http://schemas.microsoft.com/office/drawing/2014/main" id="{3015265E-E54D-3983-F7D5-CE4467A818D9}"/>
              </a:ext>
            </a:extLst>
          </p:cNvPr>
          <p:cNvPicPr>
            <a:picLocks noChangeAspect="1"/>
          </p:cNvPicPr>
          <p:nvPr/>
        </p:nvPicPr>
        <p:blipFill>
          <a:blip r:embed="rId7"/>
          <a:stretch>
            <a:fillRect/>
          </a:stretch>
        </p:blipFill>
        <p:spPr>
          <a:xfrm>
            <a:off x="10828283" y="143879"/>
            <a:ext cx="1080120" cy="1234938"/>
          </a:xfrm>
          <a:prstGeom prst="rect">
            <a:avLst/>
          </a:prstGeom>
        </p:spPr>
      </p:pic>
      <p:sp>
        <p:nvSpPr>
          <p:cNvPr id="2" name="TextBox 1">
            <a:extLst>
              <a:ext uri="{FF2B5EF4-FFF2-40B4-BE49-F238E27FC236}">
                <a16:creationId xmlns:a16="http://schemas.microsoft.com/office/drawing/2014/main" id="{A497FE7A-7AC2-B778-E7F6-07D0BDFE5A3C}"/>
              </a:ext>
            </a:extLst>
          </p:cNvPr>
          <p:cNvSpPr txBox="1"/>
          <p:nvPr/>
        </p:nvSpPr>
        <p:spPr>
          <a:xfrm>
            <a:off x="6015505" y="5784522"/>
            <a:ext cx="5883275" cy="246221"/>
          </a:xfrm>
          <a:prstGeom prst="rect">
            <a:avLst/>
          </a:prstGeom>
          <a:noFill/>
        </p:spPr>
        <p:txBody>
          <a:bodyPr wrap="square" rtlCol="0">
            <a:spAutoFit/>
          </a:bodyPr>
          <a:lstStyle/>
          <a:p>
            <a:r>
              <a:rPr lang="en-NZ" sz="1000" dirty="0"/>
              <a:t>Credit: </a:t>
            </a:r>
            <a:r>
              <a:rPr lang="en-NZ" sz="1000" i="1" dirty="0"/>
              <a:t>Munter Hitch</a:t>
            </a:r>
            <a:r>
              <a:rPr lang="en-NZ" sz="1000" dirty="0"/>
              <a:t>. (N.D.). </a:t>
            </a:r>
            <a:r>
              <a:rPr lang="en-NZ" sz="1000" dirty="0" err="1"/>
              <a:t>Nynix</a:t>
            </a:r>
            <a:r>
              <a:rPr lang="en-NZ" sz="1000" dirty="0"/>
              <a:t> </a:t>
            </a:r>
            <a:r>
              <a:rPr lang="en-NZ" sz="1000" dirty="0" err="1"/>
              <a:t>llc</a:t>
            </a:r>
            <a:r>
              <a:rPr lang="en-NZ" sz="1000" dirty="0"/>
              <a:t>. https://knots3d.com/</a:t>
            </a:r>
            <a:r>
              <a:rPr lang="en-NZ" sz="1000" dirty="0" err="1"/>
              <a:t>en</a:t>
            </a:r>
            <a:r>
              <a:rPr lang="en-NZ" sz="1000" dirty="0"/>
              <a:t>/</a:t>
            </a:r>
            <a:r>
              <a:rPr lang="en-NZ" sz="1000" dirty="0" err="1"/>
              <a:t>munter</a:t>
            </a:r>
            <a:r>
              <a:rPr lang="en-NZ" sz="1000" dirty="0"/>
              <a:t>-hitch-knot</a:t>
            </a:r>
          </a:p>
        </p:txBody>
      </p:sp>
      <p:pic>
        <p:nvPicPr>
          <p:cNvPr id="6" name="alpine-butterfly-knot">
            <a:hlinkClick r:id="" action="ppaction://media"/>
            <a:extLst>
              <a:ext uri="{FF2B5EF4-FFF2-40B4-BE49-F238E27FC236}">
                <a16:creationId xmlns:a16="http://schemas.microsoft.com/office/drawing/2014/main" id="{DA4EC86C-FC34-629C-3B7A-E7BE2FB13CFD}"/>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6528048" y="1662261"/>
            <a:ext cx="3856038" cy="3856038"/>
          </a:xfrm>
          <a:prstGeom prst="rect">
            <a:avLst/>
          </a:prstGeom>
        </p:spPr>
      </p:pic>
    </p:spTree>
    <p:extLst>
      <p:ext uri="{BB962C8B-B14F-4D97-AF65-F5344CB8AC3E}">
        <p14:creationId xmlns:p14="http://schemas.microsoft.com/office/powerpoint/2010/main" val="368692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mute="1">
                <p:cTn id="12" fill="hold" display="0">
                  <p:stCondLst>
                    <p:cond delay="indefinite"/>
                  </p:stCondLst>
                </p:cTn>
                <p:tgtEl>
                  <p:spTgt spid="6"/>
                </p:tgtEl>
              </p:cMediaNode>
            </p:video>
          </p:childTnLst>
        </p:cTn>
      </p:par>
    </p:tnLst>
  </p:timing>
  <p:extLst>
    <p:ext uri="{6950BFC3-D8DA-4A85-94F7-54DA5524770B}">
      <p188:commentRel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E0D9-B5F4-5D4F-3047-22ADC9A71B3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466E156-106D-A8A3-338B-92F3201EE834}"/>
              </a:ext>
            </a:extLst>
          </p:cNvPr>
          <p:cNvSpPr txBox="1"/>
          <p:nvPr/>
        </p:nvSpPr>
        <p:spPr>
          <a:xfrm>
            <a:off x="512064" y="843174"/>
            <a:ext cx="5367912" cy="1584216"/>
          </a:xfrm>
          <a:prstGeom prst="rect">
            <a:avLst/>
          </a:prstGeom>
        </p:spPr>
        <p:txBody>
          <a:bodyPr wrap="square" lIns="0" tIns="0" rIns="0" bIns="0" rtlCol="0" anchor="t">
            <a:spAutoFit/>
          </a:bodyPr>
          <a:lstStyle/>
          <a:p>
            <a:pPr>
              <a:lnSpc>
                <a:spcPts val="5981"/>
              </a:lnSpc>
            </a:pPr>
            <a:r>
              <a:rPr lang="en-US" sz="7020" b="1" spc="175" dirty="0">
                <a:solidFill>
                  <a:srgbClr val="001124"/>
                </a:solidFill>
                <a:latin typeface="Bebas Neue Bold"/>
                <a:ea typeface="Bebas Neue Bold"/>
                <a:cs typeface="Bebas Neue Bold"/>
                <a:sym typeface="Bebas Neue Bold"/>
              </a:rPr>
              <a:t>VERTICAL LIFT KNOT</a:t>
            </a:r>
          </a:p>
        </p:txBody>
      </p:sp>
      <p:sp>
        <p:nvSpPr>
          <p:cNvPr id="4" name="Freeform 4">
            <a:extLst>
              <a:ext uri="{FF2B5EF4-FFF2-40B4-BE49-F238E27FC236}">
                <a16:creationId xmlns:a16="http://schemas.microsoft.com/office/drawing/2014/main" id="{FC99A93D-3050-2169-163B-62BC844530D2}"/>
              </a:ext>
            </a:extLst>
          </p:cNvPr>
          <p:cNvSpPr/>
          <p:nvPr/>
        </p:nvSpPr>
        <p:spPr>
          <a:xfrm>
            <a:off x="430220" y="2281142"/>
            <a:ext cx="1028153" cy="29151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2"/>
            <a:stretch>
              <a:fillRect/>
            </a:stretch>
          </a:blipFill>
        </p:spPr>
        <p:txBody>
          <a:bodyPr/>
          <a:lstStyle/>
          <a:p>
            <a:endParaRPr lang="en-US" sz="1200"/>
          </a:p>
        </p:txBody>
      </p:sp>
      <p:sp>
        <p:nvSpPr>
          <p:cNvPr id="5" name="TextBox 5">
            <a:extLst>
              <a:ext uri="{FF2B5EF4-FFF2-40B4-BE49-F238E27FC236}">
                <a16:creationId xmlns:a16="http://schemas.microsoft.com/office/drawing/2014/main" id="{19D2806C-1A59-F52B-CBEE-81EFA7831FE5}"/>
              </a:ext>
            </a:extLst>
          </p:cNvPr>
          <p:cNvSpPr txBox="1"/>
          <p:nvPr/>
        </p:nvSpPr>
        <p:spPr>
          <a:xfrm>
            <a:off x="536448" y="2670547"/>
            <a:ext cx="4911480" cy="2597634"/>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NZ" sz="1400" b="1" dirty="0">
                <a:latin typeface="Roboto" panose="02000000000000000000" pitchFamily="2" charset="0"/>
                <a:ea typeface="Roboto" panose="02000000000000000000" pitchFamily="2" charset="0"/>
                <a:cs typeface="Roboto" panose="02000000000000000000" pitchFamily="2" charset="0"/>
              </a:rPr>
              <a:t>Uses:</a:t>
            </a:r>
            <a:r>
              <a:rPr lang="en-NZ" sz="1400" dirty="0">
                <a:latin typeface="Roboto" panose="02000000000000000000" pitchFamily="2" charset="0"/>
                <a:ea typeface="Roboto" panose="02000000000000000000" pitchFamily="2" charset="0"/>
                <a:cs typeface="Roboto" panose="02000000000000000000" pitchFamily="2" charset="0"/>
              </a:rPr>
              <a:t> </a:t>
            </a:r>
            <a:r>
              <a:rPr lang="en-AU" sz="1400" dirty="0">
                <a:latin typeface="Roboto" panose="02000000000000000000" pitchFamily="2" charset="0"/>
                <a:ea typeface="Roboto" panose="02000000000000000000" pitchFamily="2" charset="0"/>
                <a:cs typeface="Roboto" panose="02000000000000000000" pitchFamily="2" charset="0"/>
              </a:rPr>
              <a:t>A full-body harness tied directly into the bight of a rope — no hardware, no ends used — for raising or lowering a casualty in a vertical shaft. Originally developed for sewer rescues. Because it's tied in the bight, both rope ends stay free to haul on and to keep the casualty centred, and there's no free knot that can slip undone.</a:t>
            </a:r>
          </a:p>
          <a:p>
            <a:pPr marL="285750" indent="-285750">
              <a:buFont typeface="Arial" panose="020B0604020202020204" pitchFamily="34" charset="0"/>
              <a:buChar char="•"/>
            </a:pPr>
            <a:r>
              <a:rPr lang="en-NZ" sz="1400" b="1" dirty="0">
                <a:solidFill>
                  <a:srgbClr val="C00000"/>
                </a:solidFill>
                <a:latin typeface="Roboto" panose="02000000000000000000" pitchFamily="2" charset="0"/>
                <a:ea typeface="Roboto" panose="02000000000000000000" pitchFamily="2" charset="0"/>
                <a:cs typeface="Roboto" panose="02000000000000000000" pitchFamily="2" charset="0"/>
              </a:rPr>
              <a:t>Warning</a:t>
            </a:r>
            <a:r>
              <a:rPr lang="en-NZ" sz="1400" b="1" dirty="0">
                <a:latin typeface="Roboto" panose="02000000000000000000" pitchFamily="2" charset="0"/>
                <a:ea typeface="Roboto" panose="02000000000000000000" pitchFamily="2" charset="0"/>
                <a:cs typeface="Roboto" panose="02000000000000000000" pitchFamily="2" charset="0"/>
              </a:rPr>
              <a:t>: </a:t>
            </a:r>
            <a:r>
              <a:rPr lang="en-NZ" sz="1400" dirty="0">
                <a:latin typeface="Roboto" panose="02000000000000000000" pitchFamily="2" charset="0"/>
                <a:ea typeface="Roboto" panose="02000000000000000000" pitchFamily="2" charset="0"/>
                <a:cs typeface="Roboto" panose="02000000000000000000" pitchFamily="2" charset="0"/>
              </a:rPr>
              <a:t>Ropes must not cross between the legs. </a:t>
            </a:r>
            <a:r>
              <a:rPr lang="en-AU" sz="1400" dirty="0">
                <a:latin typeface="Roboto" panose="02000000000000000000" pitchFamily="2" charset="0"/>
                <a:ea typeface="Roboto" panose="02000000000000000000" pitchFamily="2" charset="0"/>
                <a:cs typeface="Roboto" panose="02000000000000000000" pitchFamily="2" charset="0"/>
              </a:rPr>
              <a:t>Both sides must be tied the same way — don't mix tying methods. Limited to walking-wounded casualties: this rig gives little protection and can worsen injuries.</a:t>
            </a:r>
          </a:p>
          <a:p>
            <a:pPr marL="228600" indent="-228600">
              <a:lnSpc>
                <a:spcPct val="110000"/>
              </a:lnSpc>
              <a:buFont typeface="Arial" panose="020B0604020202020204" pitchFamily="34" charset="0"/>
              <a:buChar char="•"/>
            </a:pPr>
            <a:r>
              <a:rPr lang="en-US" sz="1350" b="1" dirty="0">
                <a:latin typeface="Roboto" panose="02000000000000000000" pitchFamily="2" charset="0"/>
                <a:ea typeface="Roboto" panose="02000000000000000000" pitchFamily="2" charset="0"/>
                <a:cs typeface="Roboto" panose="02000000000000000000" pitchFamily="2" charset="0"/>
              </a:rPr>
              <a:t>CDEM Response Team Applications:</a:t>
            </a:r>
            <a:endParaRPr lang="en-US" sz="1350" dirty="0">
              <a:latin typeface="Roboto" panose="02000000000000000000" pitchFamily="2" charset="0"/>
              <a:ea typeface="Roboto" panose="02000000000000000000" pitchFamily="2" charset="0"/>
              <a:cs typeface="Roboto" panose="02000000000000000000" pitchFamily="2" charset="0"/>
            </a:endParaRPr>
          </a:p>
          <a:p>
            <a:pPr lvl="1" indent="-228600">
              <a:lnSpc>
                <a:spcPct val="110000"/>
              </a:lnSpc>
              <a:buFont typeface="Arial" panose="020B0604020202020204" pitchFamily="34" charset="0"/>
              <a:buChar char="•"/>
            </a:pPr>
            <a:r>
              <a:rPr lang="en-US" sz="1350" dirty="0">
                <a:latin typeface="Roboto" panose="02000000000000000000" pitchFamily="2" charset="0"/>
                <a:ea typeface="Roboto" panose="02000000000000000000" pitchFamily="2" charset="0"/>
                <a:cs typeface="Roboto" panose="02000000000000000000" pitchFamily="2" charset="0"/>
              </a:rPr>
              <a:t>Improvised harness</a:t>
            </a:r>
          </a:p>
        </p:txBody>
      </p:sp>
      <p:sp>
        <p:nvSpPr>
          <p:cNvPr id="9" name="Freeform 9">
            <a:extLst>
              <a:ext uri="{FF2B5EF4-FFF2-40B4-BE49-F238E27FC236}">
                <a16:creationId xmlns:a16="http://schemas.microsoft.com/office/drawing/2014/main" id="{B2E9A1C7-E3FE-535A-7FB8-2ED4FF5A52B0}"/>
              </a:ext>
            </a:extLst>
          </p:cNvPr>
          <p:cNvSpPr/>
          <p:nvPr/>
        </p:nvSpPr>
        <p:spPr>
          <a:xfrm>
            <a:off x="430220" y="5713786"/>
            <a:ext cx="4506373" cy="721511"/>
          </a:xfrm>
          <a:custGeom>
            <a:avLst/>
            <a:gdLst/>
            <a:ahLst/>
            <a:cxnLst/>
            <a:rect l="l" t="t" r="r" b="b"/>
            <a:pathLst>
              <a:path w="6759560" h="1082267">
                <a:moveTo>
                  <a:pt x="0" y="0"/>
                </a:moveTo>
                <a:lnTo>
                  <a:pt x="6759560" y="0"/>
                </a:lnTo>
                <a:lnTo>
                  <a:pt x="6759560" y="1082267"/>
                </a:lnTo>
                <a:lnTo>
                  <a:pt x="0" y="1082267"/>
                </a:lnTo>
                <a:lnTo>
                  <a:pt x="0" y="0"/>
                </a:lnTo>
                <a:close/>
              </a:path>
            </a:pathLst>
          </a:custGeom>
          <a:blipFill>
            <a:blip r:embed="rId3"/>
            <a:stretch>
              <a:fillRect/>
            </a:stretch>
          </a:blipFill>
        </p:spPr>
        <p:txBody>
          <a:bodyPr/>
          <a:lstStyle/>
          <a:p>
            <a:endParaRPr lang="en-US" sz="1200"/>
          </a:p>
        </p:txBody>
      </p:sp>
      <p:sp>
        <p:nvSpPr>
          <p:cNvPr id="10" name="TextBox 10">
            <a:extLst>
              <a:ext uri="{FF2B5EF4-FFF2-40B4-BE49-F238E27FC236}">
                <a16:creationId xmlns:a16="http://schemas.microsoft.com/office/drawing/2014/main" id="{385AC143-5375-FF7C-14EF-7E9F3A4D1C37}"/>
              </a:ext>
            </a:extLst>
          </p:cNvPr>
          <p:cNvSpPr txBox="1"/>
          <p:nvPr/>
        </p:nvSpPr>
        <p:spPr>
          <a:xfrm>
            <a:off x="707136" y="5916338"/>
            <a:ext cx="2097024" cy="292259"/>
          </a:xfrm>
          <a:prstGeom prst="rect">
            <a:avLst/>
          </a:prstGeom>
        </p:spPr>
        <p:txBody>
          <a:bodyPr lIns="0" tIns="0" rIns="0" bIns="0" rtlCol="0" anchor="t">
            <a:spAutoFit/>
          </a:bodyPr>
          <a:lstStyle/>
          <a:p>
            <a:pPr algn="ctr">
              <a:lnSpc>
                <a:spcPts val="2360"/>
              </a:lnSpc>
            </a:pPr>
            <a:r>
              <a:rPr lang="en-US" sz="1815" b="1">
                <a:solidFill>
                  <a:srgbClr val="FFFFFF"/>
                </a:solidFill>
                <a:latin typeface="Roboto Bold"/>
                <a:ea typeface="Roboto Bold"/>
                <a:cs typeface="Roboto Bold"/>
                <a:sym typeface="Roboto Bold"/>
              </a:rPr>
              <a:t>CLASSIFICATION:</a:t>
            </a:r>
          </a:p>
        </p:txBody>
      </p:sp>
      <p:sp>
        <p:nvSpPr>
          <p:cNvPr id="11" name="Freeform 11">
            <a:extLst>
              <a:ext uri="{FF2B5EF4-FFF2-40B4-BE49-F238E27FC236}">
                <a16:creationId xmlns:a16="http://schemas.microsoft.com/office/drawing/2014/main" id="{FE2E3A30-2B68-F2B2-0BBD-BB501D4A6B50}"/>
              </a:ext>
            </a:extLst>
          </p:cNvPr>
          <p:cNvSpPr/>
          <p:nvPr/>
        </p:nvSpPr>
        <p:spPr>
          <a:xfrm>
            <a:off x="2980642" y="5799125"/>
            <a:ext cx="1681669" cy="518959"/>
          </a:xfrm>
          <a:custGeom>
            <a:avLst/>
            <a:gdLst/>
            <a:ahLst/>
            <a:cxnLst/>
            <a:rect l="l" t="t" r="r" b="b"/>
            <a:pathLst>
              <a:path w="2832890" h="1082267">
                <a:moveTo>
                  <a:pt x="0" y="0"/>
                </a:moveTo>
                <a:lnTo>
                  <a:pt x="2832890" y="0"/>
                </a:lnTo>
                <a:lnTo>
                  <a:pt x="2832890" y="1082267"/>
                </a:lnTo>
                <a:lnTo>
                  <a:pt x="0" y="1082267"/>
                </a:lnTo>
                <a:lnTo>
                  <a:pt x="0" y="0"/>
                </a:lnTo>
                <a:close/>
              </a:path>
            </a:pathLst>
          </a:custGeom>
        </p:spPr>
        <p:style>
          <a:lnRef idx="2">
            <a:schemeClr val="accent2"/>
          </a:lnRef>
          <a:fillRef idx="1">
            <a:schemeClr val="lt1"/>
          </a:fillRef>
          <a:effectRef idx="0">
            <a:schemeClr val="accent2"/>
          </a:effectRef>
          <a:fontRef idx="minor">
            <a:schemeClr val="dk1"/>
          </a:fontRef>
        </p:style>
        <p:txBody>
          <a:bodyPr/>
          <a:lstStyle/>
          <a:p>
            <a:endParaRPr lang="en-US" sz="1200"/>
          </a:p>
        </p:txBody>
      </p:sp>
      <p:sp>
        <p:nvSpPr>
          <p:cNvPr id="12" name="TextBox 12">
            <a:extLst>
              <a:ext uri="{FF2B5EF4-FFF2-40B4-BE49-F238E27FC236}">
                <a16:creationId xmlns:a16="http://schemas.microsoft.com/office/drawing/2014/main" id="{0EEB872D-1B88-079B-7B7F-39833D906576}"/>
              </a:ext>
            </a:extLst>
          </p:cNvPr>
          <p:cNvSpPr txBox="1"/>
          <p:nvPr/>
        </p:nvSpPr>
        <p:spPr>
          <a:xfrm>
            <a:off x="3276448" y="5929818"/>
            <a:ext cx="1090055" cy="257571"/>
          </a:xfrm>
          <a:prstGeom prst="rect">
            <a:avLst/>
          </a:prstGeom>
        </p:spPr>
        <p:txBody>
          <a:bodyPr wrap="square" lIns="0" tIns="0" rIns="0" bIns="0" rtlCol="0" anchor="t">
            <a:spAutoFit/>
          </a:bodyPr>
          <a:lstStyle/>
          <a:p>
            <a:pPr algn="ctr">
              <a:lnSpc>
                <a:spcPts val="2136"/>
              </a:lnSpc>
            </a:pPr>
            <a:r>
              <a:rPr lang="en-US" sz="1643" b="1" dirty="0">
                <a:solidFill>
                  <a:srgbClr val="001630"/>
                </a:solidFill>
                <a:latin typeface="Roboto Bold"/>
                <a:ea typeface="Roboto Bold"/>
                <a:cs typeface="Roboto Bold"/>
                <a:sym typeface="Roboto Bold"/>
              </a:rPr>
              <a:t>RESCUE</a:t>
            </a:r>
          </a:p>
        </p:txBody>
      </p:sp>
      <p:pic>
        <p:nvPicPr>
          <p:cNvPr id="13" name="Picture 12" descr="New Zealand Response Teams (NZ-RTs) » National Emergency Management Agency">
            <a:extLst>
              <a:ext uri="{FF2B5EF4-FFF2-40B4-BE49-F238E27FC236}">
                <a16:creationId xmlns:a16="http://schemas.microsoft.com/office/drawing/2014/main" id="{9BE38970-05B3-A023-0B2A-AB80D34615DA}"/>
              </a:ext>
            </a:extLst>
          </p:cNvPr>
          <p:cNvPicPr>
            <a:picLocks noChangeAspect="1"/>
          </p:cNvPicPr>
          <p:nvPr/>
        </p:nvPicPr>
        <p:blipFill>
          <a:blip r:embed="rId4"/>
          <a:stretch>
            <a:fillRect/>
          </a:stretch>
        </p:blipFill>
        <p:spPr>
          <a:xfrm>
            <a:off x="10828283" y="143879"/>
            <a:ext cx="1080120" cy="1234938"/>
          </a:xfrm>
          <a:prstGeom prst="rect">
            <a:avLst/>
          </a:prstGeom>
        </p:spPr>
      </p:pic>
      <p:sp>
        <p:nvSpPr>
          <p:cNvPr id="7" name="TextBox 6">
            <a:extLst>
              <a:ext uri="{FF2B5EF4-FFF2-40B4-BE49-F238E27FC236}">
                <a16:creationId xmlns:a16="http://schemas.microsoft.com/office/drawing/2014/main" id="{8104FA1F-29F9-6C17-FCE1-BB12D34B9B80}"/>
              </a:ext>
            </a:extLst>
          </p:cNvPr>
          <p:cNvSpPr txBox="1"/>
          <p:nvPr/>
        </p:nvSpPr>
        <p:spPr>
          <a:xfrm>
            <a:off x="5647584" y="2555280"/>
            <a:ext cx="6114196" cy="2995692"/>
          </a:xfrm>
          <a:prstGeom prst="rect">
            <a:avLst/>
          </a:prstGeom>
          <a:noFill/>
        </p:spPr>
        <p:txBody>
          <a:bodyPr wrap="square">
            <a:spAutoFit/>
          </a:bodyPr>
          <a:lstStyle/>
          <a:p>
            <a:pPr indent="0" algn="l">
              <a:spcAft>
                <a:spcPts val="750"/>
              </a:spcAft>
              <a:buNone/>
            </a:pPr>
            <a:r>
              <a:rPr lang="en-AU" b="0" i="0" cap="all" dirty="0">
                <a:solidFill>
                  <a:srgbClr val="C00000"/>
                </a:solidFill>
                <a:effectLst/>
                <a:latin typeface="Bebas Neue" panose="020B0606020202050201" pitchFamily="34" charset="77"/>
                <a:ea typeface="Roboto" panose="02000000000000000000" pitchFamily="2" charset="0"/>
                <a:cs typeface="Roboto" panose="02000000000000000000" pitchFamily="2" charset="0"/>
              </a:rPr>
              <a:t>How to tie it</a:t>
            </a:r>
          </a:p>
          <a:p>
            <a:pPr marL="342900" marR="0" lvl="0" indent="-342900" algn="l">
              <a:spcAft>
                <a:spcPts val="300"/>
              </a:spcAft>
              <a:buFont typeface="+mj-lt"/>
              <a:buAutoNum type="arabicPeriod"/>
            </a:pPr>
            <a:r>
              <a:rPr lang="en-AU"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Take the bight of the rope behind the casualty's neck, run it down their front, between their legs (front to rear), then back up their sides to the front and over the shoulders — running ends nearer the arms.</a:t>
            </a:r>
          </a:p>
          <a:p>
            <a:pPr marL="342900" marR="0" lvl="0" indent="-342900" algn="l">
              <a:spcAft>
                <a:spcPts val="300"/>
              </a:spcAft>
              <a:buFont typeface="+mj-lt"/>
              <a:buAutoNum type="arabicPeriod"/>
            </a:pPr>
            <a:r>
              <a:rPr lang="en-AU"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On each side, pass a loop of the running end under the first rope so the casualty's arm can go through the loop.</a:t>
            </a:r>
          </a:p>
          <a:p>
            <a:pPr marL="342900" marR="0" lvl="0" indent="-342900" algn="l">
              <a:spcAft>
                <a:spcPts val="300"/>
              </a:spcAft>
              <a:buFont typeface="+mj-lt"/>
              <a:buAutoNum type="arabicPeriod"/>
            </a:pPr>
            <a:r>
              <a:rPr lang="en-AU"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Adjust the ropes and padding on both sides, starting at the neck, so the fit is secure and even.</a:t>
            </a:r>
          </a:p>
          <a:p>
            <a:pPr marL="342900" marR="0" lvl="0" indent="-342900" algn="l">
              <a:spcAft>
                <a:spcPts val="300"/>
              </a:spcAft>
              <a:buFont typeface="+mj-lt"/>
              <a:buAutoNum type="arabicPeriod"/>
            </a:pPr>
            <a:r>
              <a:rPr lang="en-AU"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Tie a figure 8 on a bight, using both ropes together, behind the casualty's neck to complete the knot.</a:t>
            </a:r>
          </a:p>
          <a:p>
            <a:pPr marL="342900" marR="0" lvl="0" indent="-342900" algn="l">
              <a:spcAft>
                <a:spcPts val="300"/>
              </a:spcAft>
              <a:buFont typeface="+mj-lt"/>
              <a:buAutoNum type="arabicPeriod"/>
            </a:pPr>
            <a:r>
              <a:rPr lang="en-AU"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Attach the lowering line to the tails with a rethreaded figure 8. Spare tail can be used as guide-lines or secured out of the way.</a:t>
            </a:r>
            <a:endParaRPr lang="en-AU" sz="1400" b="0" i="0" dirty="0">
              <a:solidFill>
                <a:srgbClr val="232F29"/>
              </a:solidFill>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874037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502920"/>
            <a:ext cx="10058400" cy="548640"/>
          </a:xfrm>
          <a:prstGeom prst="rect">
            <a:avLst/>
          </a:prstGeom>
          <a:noFill/>
          <a:ln/>
        </p:spPr>
        <p:txBody>
          <a:bodyPr wrap="square" lIns="0" tIns="0" rIns="0" bIns="0" rtlCol="0" anchor="ctr"/>
          <a:lstStyle/>
          <a:p>
            <a:pPr>
              <a:lnSpc>
                <a:spcPts val="5981"/>
              </a:lnSpc>
            </a:pPr>
            <a:r>
              <a:rPr lang="en-US" sz="2800" b="1" spc="175" dirty="0">
                <a:solidFill>
                  <a:srgbClr val="001124"/>
                </a:solidFill>
                <a:latin typeface="Bebas Neue Bold"/>
                <a:ea typeface="Bebas Neue Bold"/>
                <a:cs typeface="Bebas Neue Bold"/>
                <a:sym typeface="Bebas Neue Bold"/>
              </a:rPr>
              <a:t>SOURCES AND DOCUMENT INFORMATION</a:t>
            </a:r>
          </a:p>
        </p:txBody>
      </p:sp>
      <p:sp>
        <p:nvSpPr>
          <p:cNvPr id="3" name="Shape 1"/>
          <p:cNvSpPr/>
          <p:nvPr/>
        </p:nvSpPr>
        <p:spPr>
          <a:xfrm>
            <a:off x="548640" y="1143000"/>
            <a:ext cx="11064240" cy="0"/>
          </a:xfrm>
          <a:prstGeom prst="line">
            <a:avLst/>
          </a:prstGeom>
          <a:noFill/>
          <a:ln w="19050">
            <a:solidFill>
              <a:srgbClr val="C00000"/>
            </a:solidFill>
            <a:prstDash val="solid"/>
          </a:ln>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 name="Text 2"/>
          <p:cNvSpPr txBox="1"/>
          <p:nvPr/>
        </p:nvSpPr>
        <p:spPr>
          <a:xfrm>
            <a:off x="548640" y="1371600"/>
            <a:ext cx="6309360" cy="292608"/>
          </a:xfrm>
          <a:prstGeom prst="rect">
            <a:avLst/>
          </a:prstGeom>
          <a:noFill/>
          <a:ln/>
        </p:spPr>
        <p:txBody>
          <a:bodyPr wrap="square" lIns="0" tIns="0" rIns="0" bIns="0" rtlCol="0" anchor="ctr"/>
          <a:lstStyle/>
          <a:p>
            <a:pPr marL="0" indent="0">
              <a:buNone/>
            </a:pPr>
            <a:r>
              <a:rPr lang="en-US" sz="1600" b="1" kern="0" spc="100" dirty="0">
                <a:solidFill>
                  <a:srgbClr val="C00000"/>
                </a:solidFill>
                <a:latin typeface="Bebas Neue" panose="020B0606020202050201" pitchFamily="34" charset="77"/>
                <a:ea typeface="Roboto" panose="02000000000000000000" pitchFamily="2" charset="0"/>
                <a:cs typeface="Roboto" panose="02000000000000000000" pitchFamily="2" charset="0"/>
              </a:rPr>
              <a:t>SOURCES &amp; REFERENCES</a:t>
            </a:r>
            <a:endParaRPr lang="en-US" sz="1600" dirty="0">
              <a:solidFill>
                <a:srgbClr val="C00000"/>
              </a:solidFill>
              <a:latin typeface="Bebas Neue" panose="020B0606020202050201" pitchFamily="34" charset="77"/>
              <a:ea typeface="Roboto" panose="02000000000000000000" pitchFamily="2" charset="0"/>
              <a:cs typeface="Roboto" panose="02000000000000000000" pitchFamily="2" charset="0"/>
            </a:endParaRPr>
          </a:p>
        </p:txBody>
      </p:sp>
      <p:sp>
        <p:nvSpPr>
          <p:cNvPr id="5" name="Text 3"/>
          <p:cNvSpPr txBox="1"/>
          <p:nvPr/>
        </p:nvSpPr>
        <p:spPr>
          <a:xfrm>
            <a:off x="548640" y="1719072"/>
            <a:ext cx="6309360" cy="1280160"/>
          </a:xfrm>
          <a:prstGeom prst="rect">
            <a:avLst/>
          </a:prstGeom>
          <a:noFill/>
          <a:ln/>
        </p:spPr>
        <p:txBody>
          <a:bodyPr wrap="square" lIns="0" tIns="0" rIns="0" bIns="0" rtlCol="0" anchor="ctr"/>
          <a:lstStyle/>
          <a:p>
            <a:pPr marL="203200" indent="-203200">
              <a:spcAft>
                <a:spcPts val="800"/>
              </a:spcAft>
              <a:buSzPct val="100000"/>
              <a:buChar char="●"/>
            </a:pPr>
            <a:r>
              <a:rPr lang="en-US" sz="1150" dirty="0">
                <a:latin typeface="Roboto" panose="02000000000000000000" pitchFamily="2" charset="0"/>
                <a:ea typeface="Roboto" panose="02000000000000000000" pitchFamily="2" charset="0"/>
                <a:cs typeface="Roboto" panose="02000000000000000000" pitchFamily="2" charset="0"/>
              </a:rPr>
              <a:t>Animated Knots by Grog — animatedknots.com (step photos &amp; video demonstrations)</a:t>
            </a:r>
          </a:p>
          <a:p>
            <a:pPr marL="203200" indent="-203200">
              <a:spcAft>
                <a:spcPts val="800"/>
              </a:spcAft>
              <a:buSzPct val="100000"/>
              <a:buChar char="●"/>
            </a:pPr>
            <a:r>
              <a:rPr lang="en-US" sz="1150" dirty="0">
                <a:latin typeface="Roboto" panose="02000000000000000000" pitchFamily="2" charset="0"/>
                <a:ea typeface="Roboto" panose="02000000000000000000" pitchFamily="2" charset="0"/>
                <a:cs typeface="Roboto" panose="02000000000000000000" pitchFamily="2" charset="0"/>
              </a:rPr>
              <a:t>Knots3D by Nynix LLC — knots3d.com (3D reference renders)</a:t>
            </a:r>
          </a:p>
          <a:p>
            <a:pPr marL="203200" indent="-203200">
              <a:spcAft>
                <a:spcPts val="800"/>
              </a:spcAft>
              <a:buSzPct val="100000"/>
              <a:buChar char="●"/>
            </a:pPr>
            <a:r>
              <a:rPr lang="en-US" sz="1150" dirty="0">
                <a:latin typeface="Roboto" panose="02000000000000000000" pitchFamily="2" charset="0"/>
                <a:ea typeface="Roboto" panose="02000000000000000000" pitchFamily="2" charset="0"/>
                <a:cs typeface="Roboto" panose="02000000000000000000" pitchFamily="2" charset="0"/>
              </a:rPr>
              <a:t>Cover photograph © Corey Shelton, 2023 — NZ-RT11 field training exercise</a:t>
            </a:r>
          </a:p>
        </p:txBody>
      </p:sp>
      <p:sp>
        <p:nvSpPr>
          <p:cNvPr id="6" name="Text 4"/>
          <p:cNvSpPr txBox="1"/>
          <p:nvPr/>
        </p:nvSpPr>
        <p:spPr>
          <a:xfrm>
            <a:off x="548640" y="3154680"/>
            <a:ext cx="6309360" cy="292608"/>
          </a:xfrm>
          <a:prstGeom prst="rect">
            <a:avLst/>
          </a:prstGeom>
          <a:noFill/>
          <a:ln/>
        </p:spPr>
        <p:txBody>
          <a:bodyPr wrap="square" lIns="0" tIns="0" rIns="0" bIns="0" rtlCol="0" anchor="ctr"/>
          <a:lstStyle/>
          <a:p>
            <a:pPr marL="0" indent="0">
              <a:buNone/>
            </a:pPr>
            <a:r>
              <a:rPr lang="en-US" sz="1600" b="1" kern="0" spc="100" dirty="0">
                <a:solidFill>
                  <a:srgbClr val="C00000"/>
                </a:solidFill>
                <a:latin typeface="Bebas Neue" panose="020B0606020202050201" pitchFamily="34" charset="77"/>
                <a:ea typeface="Roboto" panose="02000000000000000000" pitchFamily="2" charset="0"/>
                <a:cs typeface="Roboto" panose="02000000000000000000" pitchFamily="2" charset="0"/>
              </a:rPr>
              <a:t>DOCUMENT METADATA</a:t>
            </a:r>
            <a:endParaRPr lang="en-US" sz="1600" dirty="0">
              <a:solidFill>
                <a:srgbClr val="C00000"/>
              </a:solidFill>
              <a:latin typeface="Bebas Neue" panose="020B0606020202050201" pitchFamily="34" charset="77"/>
              <a:ea typeface="Roboto" panose="02000000000000000000" pitchFamily="2" charset="0"/>
              <a:cs typeface="Roboto" panose="02000000000000000000" pitchFamily="2" charset="0"/>
            </a:endParaRPr>
          </a:p>
        </p:txBody>
      </p:sp>
      <p:sp>
        <p:nvSpPr>
          <p:cNvPr id="7" name="Text 5"/>
          <p:cNvSpPr txBox="1"/>
          <p:nvPr/>
        </p:nvSpPr>
        <p:spPr>
          <a:xfrm>
            <a:off x="548640" y="3566160"/>
            <a:ext cx="1828800" cy="292608"/>
          </a:xfrm>
          <a:prstGeom prst="rect">
            <a:avLst/>
          </a:prstGeom>
          <a:noFill/>
          <a:ln/>
        </p:spPr>
        <p:txBody>
          <a:bodyPr wrap="square" lIns="0" tIns="0" rIns="0" bIns="0" rtlCol="0" anchor="ctr"/>
          <a:lstStyle/>
          <a:p>
            <a:pPr marL="0" indent="0">
              <a:buNone/>
            </a:pPr>
            <a:r>
              <a:rPr lang="en-US" sz="1150" b="1" dirty="0">
                <a:solidFill>
                  <a:srgbClr val="C00000"/>
                </a:solidFill>
                <a:latin typeface="Roboto" panose="02000000000000000000" pitchFamily="2" charset="0"/>
                <a:ea typeface="Roboto" panose="02000000000000000000" pitchFamily="2" charset="0"/>
                <a:cs typeface="Roboto" panose="02000000000000000000" pitchFamily="2" charset="0"/>
              </a:rPr>
              <a:t>Owner</a:t>
            </a:r>
            <a:endParaRPr lang="en-US" sz="1150" dirty="0">
              <a:solidFill>
                <a:srgbClr val="C00000"/>
              </a:solidFill>
              <a:latin typeface="Roboto" panose="02000000000000000000" pitchFamily="2" charset="0"/>
              <a:ea typeface="Roboto" panose="02000000000000000000" pitchFamily="2" charset="0"/>
              <a:cs typeface="Roboto" panose="02000000000000000000" pitchFamily="2" charset="0"/>
            </a:endParaRPr>
          </a:p>
        </p:txBody>
      </p:sp>
      <p:sp>
        <p:nvSpPr>
          <p:cNvPr id="8" name="Text 6"/>
          <p:cNvSpPr txBox="1"/>
          <p:nvPr/>
        </p:nvSpPr>
        <p:spPr>
          <a:xfrm>
            <a:off x="2468880" y="3566160"/>
            <a:ext cx="4389120" cy="292608"/>
          </a:xfrm>
          <a:prstGeom prst="rect">
            <a:avLst/>
          </a:prstGeom>
          <a:noFill/>
          <a:ln/>
        </p:spPr>
        <p:txBody>
          <a:bodyPr wrap="square" lIns="0" tIns="0" rIns="0" bIns="0" rtlCol="0" anchor="ctr"/>
          <a:lstStyle/>
          <a:p>
            <a:pPr marL="0" indent="0">
              <a:buNone/>
            </a:pPr>
            <a:r>
              <a:rPr lang="en-US" sz="1150" dirty="0">
                <a:latin typeface="Roboto" panose="02000000000000000000" pitchFamily="2" charset="0"/>
                <a:ea typeface="Roboto" panose="02000000000000000000" pitchFamily="2" charset="0"/>
                <a:cs typeface="Roboto" panose="02000000000000000000" pitchFamily="2" charset="0"/>
              </a:rPr>
              <a:t>CDEM Response Team NZ-RT11</a:t>
            </a:r>
          </a:p>
        </p:txBody>
      </p:sp>
      <p:sp>
        <p:nvSpPr>
          <p:cNvPr id="9" name="Text 7"/>
          <p:cNvSpPr txBox="1"/>
          <p:nvPr/>
        </p:nvSpPr>
        <p:spPr>
          <a:xfrm>
            <a:off x="548640" y="3895344"/>
            <a:ext cx="1828800" cy="292608"/>
          </a:xfrm>
          <a:prstGeom prst="rect">
            <a:avLst/>
          </a:prstGeom>
          <a:noFill/>
          <a:ln/>
        </p:spPr>
        <p:txBody>
          <a:bodyPr wrap="square" lIns="0" tIns="0" rIns="0" bIns="0" rtlCol="0" anchor="ctr"/>
          <a:lstStyle/>
          <a:p>
            <a:pPr marL="0" indent="0">
              <a:buNone/>
            </a:pPr>
            <a:r>
              <a:rPr lang="en-US" sz="1150" b="1" dirty="0">
                <a:solidFill>
                  <a:srgbClr val="C00000"/>
                </a:solidFill>
                <a:latin typeface="Roboto" panose="02000000000000000000" pitchFamily="2" charset="0"/>
                <a:ea typeface="Roboto" panose="02000000000000000000" pitchFamily="2" charset="0"/>
                <a:cs typeface="Roboto" panose="02000000000000000000" pitchFamily="2" charset="0"/>
              </a:rPr>
              <a:t>Parent Agency</a:t>
            </a:r>
            <a:endParaRPr lang="en-US" sz="1150" dirty="0">
              <a:solidFill>
                <a:srgbClr val="C00000"/>
              </a:solidFill>
              <a:latin typeface="Roboto" panose="02000000000000000000" pitchFamily="2" charset="0"/>
              <a:ea typeface="Roboto" panose="02000000000000000000" pitchFamily="2" charset="0"/>
              <a:cs typeface="Roboto" panose="02000000000000000000" pitchFamily="2" charset="0"/>
            </a:endParaRPr>
          </a:p>
        </p:txBody>
      </p:sp>
      <p:sp>
        <p:nvSpPr>
          <p:cNvPr id="10" name="Text 8"/>
          <p:cNvSpPr txBox="1"/>
          <p:nvPr/>
        </p:nvSpPr>
        <p:spPr>
          <a:xfrm>
            <a:off x="2468880" y="3895344"/>
            <a:ext cx="4389120" cy="292608"/>
          </a:xfrm>
          <a:prstGeom prst="rect">
            <a:avLst/>
          </a:prstGeom>
          <a:noFill/>
          <a:ln/>
        </p:spPr>
        <p:txBody>
          <a:bodyPr wrap="square" lIns="0" tIns="0" rIns="0" bIns="0" rtlCol="0" anchor="ctr"/>
          <a:lstStyle/>
          <a:p>
            <a:pPr marL="0" indent="0">
              <a:buNone/>
            </a:pPr>
            <a:r>
              <a:rPr lang="en-US" sz="1150" dirty="0">
                <a:latin typeface="Roboto" panose="02000000000000000000" pitchFamily="2" charset="0"/>
                <a:ea typeface="Roboto" panose="02000000000000000000" pitchFamily="2" charset="0"/>
                <a:cs typeface="Roboto" panose="02000000000000000000" pitchFamily="2" charset="0"/>
              </a:rPr>
              <a:t>National Emergency Management Agency (NEMA)</a:t>
            </a:r>
          </a:p>
        </p:txBody>
      </p:sp>
      <p:sp>
        <p:nvSpPr>
          <p:cNvPr id="11" name="Text 9"/>
          <p:cNvSpPr txBox="1"/>
          <p:nvPr/>
        </p:nvSpPr>
        <p:spPr>
          <a:xfrm>
            <a:off x="548640" y="4224528"/>
            <a:ext cx="1828800" cy="292608"/>
          </a:xfrm>
          <a:prstGeom prst="rect">
            <a:avLst/>
          </a:prstGeom>
          <a:noFill/>
          <a:ln/>
        </p:spPr>
        <p:txBody>
          <a:bodyPr wrap="square" lIns="0" tIns="0" rIns="0" bIns="0" rtlCol="0" anchor="ctr"/>
          <a:lstStyle/>
          <a:p>
            <a:pPr marL="0" indent="0">
              <a:buNone/>
            </a:pPr>
            <a:r>
              <a:rPr lang="en-US" sz="1150" b="1" dirty="0">
                <a:solidFill>
                  <a:srgbClr val="C00000"/>
                </a:solidFill>
                <a:latin typeface="Roboto" panose="02000000000000000000" pitchFamily="2" charset="0"/>
                <a:ea typeface="Roboto" panose="02000000000000000000" pitchFamily="2" charset="0"/>
                <a:cs typeface="Roboto" panose="02000000000000000000" pitchFamily="2" charset="0"/>
              </a:rPr>
              <a:t>Created</a:t>
            </a:r>
            <a:endParaRPr lang="en-US" sz="1150" dirty="0">
              <a:solidFill>
                <a:srgbClr val="C00000"/>
              </a:solidFill>
              <a:latin typeface="Roboto" panose="02000000000000000000" pitchFamily="2" charset="0"/>
              <a:ea typeface="Roboto" panose="02000000000000000000" pitchFamily="2" charset="0"/>
              <a:cs typeface="Roboto" panose="02000000000000000000" pitchFamily="2" charset="0"/>
            </a:endParaRPr>
          </a:p>
        </p:txBody>
      </p:sp>
      <p:sp>
        <p:nvSpPr>
          <p:cNvPr id="12" name="Text 10"/>
          <p:cNvSpPr txBox="1"/>
          <p:nvPr/>
        </p:nvSpPr>
        <p:spPr>
          <a:xfrm>
            <a:off x="2468880" y="4224528"/>
            <a:ext cx="4389120" cy="292608"/>
          </a:xfrm>
          <a:prstGeom prst="rect">
            <a:avLst/>
          </a:prstGeom>
          <a:noFill/>
          <a:ln/>
        </p:spPr>
        <p:txBody>
          <a:bodyPr wrap="square" lIns="0" tIns="0" rIns="0" bIns="0" rtlCol="0" anchor="ctr"/>
          <a:lstStyle/>
          <a:p>
            <a:pPr marL="0" indent="0">
              <a:buNone/>
            </a:pPr>
            <a:r>
              <a:rPr lang="en-US" sz="1150" dirty="0">
                <a:latin typeface="Roboto" panose="02000000000000000000" pitchFamily="2" charset="0"/>
                <a:ea typeface="Roboto" panose="02000000000000000000" pitchFamily="2" charset="0"/>
                <a:cs typeface="Roboto" panose="02000000000000000000" pitchFamily="2" charset="0"/>
              </a:rPr>
              <a:t>September 25, 2026</a:t>
            </a:r>
          </a:p>
        </p:txBody>
      </p:sp>
      <p:sp>
        <p:nvSpPr>
          <p:cNvPr id="13" name="Text 11"/>
          <p:cNvSpPr txBox="1"/>
          <p:nvPr/>
        </p:nvSpPr>
        <p:spPr>
          <a:xfrm>
            <a:off x="548640" y="4553712"/>
            <a:ext cx="1828800" cy="292608"/>
          </a:xfrm>
          <a:prstGeom prst="rect">
            <a:avLst/>
          </a:prstGeom>
          <a:noFill/>
          <a:ln/>
        </p:spPr>
        <p:txBody>
          <a:bodyPr wrap="square" lIns="0" tIns="0" rIns="0" bIns="0" rtlCol="0" anchor="ctr"/>
          <a:lstStyle/>
          <a:p>
            <a:pPr marL="0" indent="0">
              <a:buNone/>
            </a:pPr>
            <a:r>
              <a:rPr lang="en-US" sz="1150" b="1" dirty="0">
                <a:solidFill>
                  <a:srgbClr val="C00000"/>
                </a:solidFill>
                <a:latin typeface="Roboto" panose="02000000000000000000" pitchFamily="2" charset="0"/>
                <a:ea typeface="Roboto" panose="02000000000000000000" pitchFamily="2" charset="0"/>
                <a:cs typeface="Roboto" panose="02000000000000000000" pitchFamily="2" charset="0"/>
              </a:rPr>
              <a:t>Current Version</a:t>
            </a:r>
            <a:endParaRPr lang="en-US" sz="1150" dirty="0">
              <a:solidFill>
                <a:srgbClr val="C00000"/>
              </a:solidFill>
              <a:latin typeface="Roboto" panose="02000000000000000000" pitchFamily="2" charset="0"/>
              <a:ea typeface="Roboto" panose="02000000000000000000" pitchFamily="2" charset="0"/>
              <a:cs typeface="Roboto" panose="02000000000000000000" pitchFamily="2" charset="0"/>
            </a:endParaRPr>
          </a:p>
        </p:txBody>
      </p:sp>
      <p:sp>
        <p:nvSpPr>
          <p:cNvPr id="14" name="Text 12"/>
          <p:cNvSpPr txBox="1"/>
          <p:nvPr/>
        </p:nvSpPr>
        <p:spPr>
          <a:xfrm>
            <a:off x="2468880" y="4553712"/>
            <a:ext cx="4389120" cy="292608"/>
          </a:xfrm>
          <a:prstGeom prst="rect">
            <a:avLst/>
          </a:prstGeom>
          <a:noFill/>
          <a:ln/>
        </p:spPr>
        <p:txBody>
          <a:bodyPr wrap="square" lIns="0" tIns="0" rIns="0" bIns="0" rtlCol="0" anchor="ctr"/>
          <a:lstStyle/>
          <a:p>
            <a:pPr marL="0" indent="0">
              <a:buNone/>
            </a:pPr>
            <a:r>
              <a:rPr lang="en-US" sz="1150" dirty="0">
                <a:latin typeface="Roboto" panose="02000000000000000000" pitchFamily="2" charset="0"/>
                <a:ea typeface="Roboto" panose="02000000000000000000" pitchFamily="2" charset="0"/>
                <a:cs typeface="Roboto" panose="02000000000000000000" pitchFamily="2" charset="0"/>
              </a:rPr>
              <a:t>1.0</a:t>
            </a:r>
          </a:p>
        </p:txBody>
      </p:sp>
      <p:sp>
        <p:nvSpPr>
          <p:cNvPr id="15" name="Text 13"/>
          <p:cNvSpPr txBox="1"/>
          <p:nvPr/>
        </p:nvSpPr>
        <p:spPr>
          <a:xfrm>
            <a:off x="548640" y="4882896"/>
            <a:ext cx="1828800" cy="292608"/>
          </a:xfrm>
          <a:prstGeom prst="rect">
            <a:avLst/>
          </a:prstGeom>
          <a:noFill/>
          <a:ln/>
        </p:spPr>
        <p:txBody>
          <a:bodyPr wrap="square" lIns="0" tIns="0" rIns="0" bIns="0" rtlCol="0" anchor="ctr"/>
          <a:lstStyle/>
          <a:p>
            <a:pPr marL="0" indent="0">
              <a:buNone/>
            </a:pPr>
            <a:r>
              <a:rPr lang="en-US" sz="1150" b="1" dirty="0">
                <a:solidFill>
                  <a:srgbClr val="C00000"/>
                </a:solidFill>
                <a:latin typeface="Roboto" panose="02000000000000000000" pitchFamily="2" charset="0"/>
                <a:ea typeface="Roboto" panose="02000000000000000000" pitchFamily="2" charset="0"/>
                <a:cs typeface="Roboto" panose="02000000000000000000" pitchFamily="2" charset="0"/>
              </a:rPr>
              <a:t>Review Cycle</a:t>
            </a:r>
            <a:endParaRPr lang="en-US" sz="1150" dirty="0">
              <a:solidFill>
                <a:srgbClr val="C00000"/>
              </a:solidFill>
              <a:latin typeface="Roboto" panose="02000000000000000000" pitchFamily="2" charset="0"/>
              <a:ea typeface="Roboto" panose="02000000000000000000" pitchFamily="2" charset="0"/>
              <a:cs typeface="Roboto" panose="02000000000000000000" pitchFamily="2" charset="0"/>
            </a:endParaRPr>
          </a:p>
        </p:txBody>
      </p:sp>
      <p:sp>
        <p:nvSpPr>
          <p:cNvPr id="16" name="Text 14"/>
          <p:cNvSpPr txBox="1"/>
          <p:nvPr/>
        </p:nvSpPr>
        <p:spPr>
          <a:xfrm>
            <a:off x="2468880" y="4882896"/>
            <a:ext cx="4389120" cy="292608"/>
          </a:xfrm>
          <a:prstGeom prst="rect">
            <a:avLst/>
          </a:prstGeom>
          <a:noFill/>
          <a:ln/>
        </p:spPr>
        <p:txBody>
          <a:bodyPr wrap="square" lIns="0" tIns="0" rIns="0" bIns="0" rtlCol="0" anchor="ctr"/>
          <a:lstStyle/>
          <a:p>
            <a:pPr marL="0" indent="0">
              <a:buNone/>
            </a:pPr>
            <a:r>
              <a:rPr lang="en-US" sz="1150" dirty="0">
                <a:latin typeface="Roboto" panose="02000000000000000000" pitchFamily="2" charset="0"/>
                <a:ea typeface="Roboto" panose="02000000000000000000" pitchFamily="2" charset="0"/>
                <a:cs typeface="Roboto" panose="02000000000000000000" pitchFamily="2" charset="0"/>
              </a:rPr>
              <a:t>Annual, or after major content changes</a:t>
            </a:r>
          </a:p>
        </p:txBody>
      </p:sp>
      <p:sp>
        <p:nvSpPr>
          <p:cNvPr id="17" name="Text 15"/>
          <p:cNvSpPr txBox="1"/>
          <p:nvPr/>
        </p:nvSpPr>
        <p:spPr>
          <a:xfrm>
            <a:off x="7223760" y="1371600"/>
            <a:ext cx="4434840" cy="292608"/>
          </a:xfrm>
          <a:prstGeom prst="rect">
            <a:avLst/>
          </a:prstGeom>
          <a:noFill/>
          <a:ln/>
        </p:spPr>
        <p:txBody>
          <a:bodyPr wrap="square" lIns="0" tIns="0" rIns="0" bIns="0" rtlCol="0" anchor="ctr"/>
          <a:lstStyle/>
          <a:p>
            <a:pPr marL="0" indent="0">
              <a:buNone/>
            </a:pPr>
            <a:r>
              <a:rPr lang="en-US" sz="1600" b="1" kern="0" spc="100" dirty="0">
                <a:solidFill>
                  <a:srgbClr val="C00000"/>
                </a:solidFill>
                <a:latin typeface="Bebas Neue" panose="020B0606020202050201" pitchFamily="34" charset="77"/>
                <a:ea typeface="Roboto" panose="02000000000000000000" pitchFamily="2" charset="0"/>
                <a:cs typeface="Roboto" panose="02000000000000000000" pitchFamily="2" charset="0"/>
              </a:rPr>
              <a:t>VERSION HISTORY</a:t>
            </a:r>
            <a:endParaRPr lang="en-US" sz="1600" dirty="0">
              <a:solidFill>
                <a:srgbClr val="C00000"/>
              </a:solidFill>
              <a:latin typeface="Bebas Neue" panose="020B0606020202050201" pitchFamily="34" charset="77"/>
              <a:ea typeface="Roboto" panose="02000000000000000000" pitchFamily="2" charset="0"/>
              <a:cs typeface="Roboto" panose="02000000000000000000" pitchFamily="2" charset="0"/>
            </a:endParaRPr>
          </a:p>
        </p:txBody>
      </p:sp>
      <p:graphicFrame>
        <p:nvGraphicFramePr>
          <p:cNvPr id="18" name="Table 0"/>
          <p:cNvGraphicFramePr>
            <a:graphicFrameLocks noGrp="1"/>
          </p:cNvGraphicFramePr>
          <p:nvPr/>
        </p:nvGraphicFramePr>
        <p:xfrm>
          <a:off x="7223760" y="1988312"/>
          <a:ext cx="4434840" cy="515620"/>
        </p:xfrm>
        <a:graphic>
          <a:graphicData uri="http://schemas.openxmlformats.org/drawingml/2006/table">
            <a:tbl>
              <a:tblPr/>
              <a:tblGrid>
                <a:gridCol w="594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0">
                <a:tc>
                  <a:txBody>
                    <a:bodyPr/>
                    <a:lstStyle/>
                    <a:p>
                      <a:pPr marL="0" indent="0">
                        <a:buNone/>
                      </a:pPr>
                      <a:r>
                        <a:rPr lang="en-US" sz="1050" b="1" dirty="0">
                          <a:solidFill>
                            <a:schemeClr val="tx1"/>
                          </a:solidFill>
                        </a:rPr>
                        <a:t>Ver.</a:t>
                      </a:r>
                      <a:endParaRPr lang="en-US" sz="105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solidFill>
                      <a:schemeClr val="bg2">
                        <a:lumMod val="90000"/>
                      </a:schemeClr>
                    </a:solidFill>
                  </a:tcPr>
                </a:tc>
                <a:tc>
                  <a:txBody>
                    <a:bodyPr/>
                    <a:lstStyle/>
                    <a:p>
                      <a:pPr marL="0" indent="0">
                        <a:buNone/>
                      </a:pPr>
                      <a:r>
                        <a:rPr lang="en-US" sz="1050" b="1" dirty="0">
                          <a:solidFill>
                            <a:schemeClr val="tx1"/>
                          </a:solidFill>
                        </a:rPr>
                        <a:t>Date</a:t>
                      </a:r>
                      <a:endParaRPr lang="en-US" sz="105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solidFill>
                      <a:schemeClr val="bg2">
                        <a:lumMod val="90000"/>
                      </a:schemeClr>
                    </a:solidFill>
                  </a:tcPr>
                </a:tc>
                <a:tc>
                  <a:txBody>
                    <a:bodyPr/>
                    <a:lstStyle/>
                    <a:p>
                      <a:pPr marL="0" indent="0">
                        <a:buNone/>
                      </a:pPr>
                      <a:r>
                        <a:rPr lang="en-US" sz="1050" b="1" dirty="0">
                          <a:solidFill>
                            <a:schemeClr val="tx1"/>
                          </a:solidFill>
                        </a:rPr>
                        <a:t>Notes</a:t>
                      </a:r>
                      <a:endParaRPr lang="en-US" sz="105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0"/>
                  </a:ext>
                </a:extLst>
              </a:tr>
              <a:tr h="0">
                <a:tc>
                  <a:txBody>
                    <a:bodyPr/>
                    <a:lstStyle/>
                    <a:p>
                      <a:pPr marL="0" indent="0">
                        <a:buNone/>
                      </a:pPr>
                      <a:r>
                        <a:rPr lang="en-US" sz="1000" b="1" dirty="0">
                          <a:solidFill>
                            <a:schemeClr val="tx1"/>
                          </a:solidFill>
                        </a:rPr>
                        <a:t>1.0 </a:t>
                      </a:r>
                      <a:endParaRPr lang="en-US" sz="100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tcPr>
                </a:tc>
                <a:tc>
                  <a:txBody>
                    <a:bodyPr/>
                    <a:lstStyle/>
                    <a:p>
                      <a:pPr marL="0" indent="0">
                        <a:buNone/>
                      </a:pPr>
                      <a:r>
                        <a:rPr lang="en-US" sz="1000" b="1" dirty="0">
                          <a:solidFill>
                            <a:schemeClr val="tx1"/>
                          </a:solidFill>
                        </a:rPr>
                        <a:t>25 Sep 2026</a:t>
                      </a:r>
                      <a:endParaRPr lang="en-US" sz="100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tcPr>
                </a:tc>
                <a:tc>
                  <a:txBody>
                    <a:bodyPr/>
                    <a:lstStyle/>
                    <a:p>
                      <a:pPr marL="0" indent="0">
                        <a:buNone/>
                      </a:pPr>
                      <a:r>
                        <a:rPr lang="en-US" sz="1000" b="1" dirty="0">
                          <a:solidFill>
                            <a:schemeClr val="tx1"/>
                          </a:solidFill>
                        </a:rPr>
                        <a:t>First version </a:t>
                      </a:r>
                      <a:r>
                        <a:rPr lang="en-US" sz="1000" b="1" dirty="0" err="1">
                          <a:solidFill>
                            <a:schemeClr val="tx1"/>
                          </a:solidFill>
                        </a:rPr>
                        <a:t>finalised</a:t>
                      </a:r>
                      <a:r>
                        <a:rPr lang="en-US" sz="1000" b="1" dirty="0">
                          <a:solidFill>
                            <a:schemeClr val="tx1"/>
                          </a:solidFill>
                        </a:rPr>
                        <a:t>.</a:t>
                      </a:r>
                      <a:endParaRPr lang="en-US" sz="1000" dirty="0">
                        <a:solidFill>
                          <a:schemeClr val="tx1"/>
                        </a:solidFill>
                      </a:endParaRPr>
                    </a:p>
                  </a:txBody>
                  <a:tcPr marL="76200" marR="76200" marT="50800" marB="50800" anchor="ctr">
                    <a:lnL w="9525" cap="flat" cmpd="sng" algn="ctr">
                      <a:solidFill>
                        <a:srgbClr val="2A3B52"/>
                      </a:solidFill>
                      <a:prstDash val="solid"/>
                      <a:round/>
                      <a:headEnd type="none" w="med" len="med"/>
                      <a:tailEnd type="none" w="med" len="med"/>
                    </a:lnL>
                    <a:lnR w="9525" cap="flat" cmpd="sng" algn="ctr">
                      <a:solidFill>
                        <a:srgbClr val="2A3B52"/>
                      </a:solidFill>
                      <a:prstDash val="solid"/>
                      <a:round/>
                      <a:headEnd type="none" w="med" len="med"/>
                      <a:tailEnd type="none" w="med" len="med"/>
                    </a:lnR>
                    <a:lnT w="9525" cap="flat" cmpd="sng" algn="ctr">
                      <a:solidFill>
                        <a:srgbClr val="2A3B52"/>
                      </a:solidFill>
                      <a:prstDash val="solid"/>
                      <a:round/>
                      <a:headEnd type="none" w="med" len="med"/>
                      <a:tailEnd type="none" w="med" len="med"/>
                    </a:lnT>
                    <a:lnB w="9525" cap="flat" cmpd="sng" algn="ctr">
                      <a:solidFill>
                        <a:srgbClr val="2A3B5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9" name="Text 16"/>
          <p:cNvSpPr txBox="1"/>
          <p:nvPr/>
        </p:nvSpPr>
        <p:spPr>
          <a:xfrm>
            <a:off x="7223760" y="3429000"/>
            <a:ext cx="4434840" cy="822960"/>
          </a:xfrm>
          <a:prstGeom prst="rect">
            <a:avLst/>
          </a:prstGeom>
          <a:noFill/>
          <a:ln/>
        </p:spPr>
        <p:txBody>
          <a:bodyPr wrap="square" lIns="0" tIns="0" rIns="0" bIns="0" rtlCol="0" anchor="ctr"/>
          <a:lstStyle/>
          <a:p>
            <a:pPr marL="0" indent="0">
              <a:lnSpc>
                <a:spcPct val="115000"/>
              </a:lnSpc>
              <a:buNone/>
            </a:pPr>
            <a:r>
              <a:rPr lang="en-US" sz="1000" i="1" dirty="0">
                <a:solidFill>
                  <a:srgbClr val="8C97A6"/>
                </a:solidFill>
                <a:latin typeface="Roboto" panose="02000000000000000000" pitchFamily="2" charset="0"/>
                <a:ea typeface="Roboto" panose="02000000000000000000" pitchFamily="2" charset="0"/>
                <a:cs typeface="Roboto" panose="02000000000000000000" pitchFamily="2" charset="0"/>
              </a:rPr>
              <a:t>This is provided for training reference. Always practice new knots under supervision before relying on them in live rope-rescue operations.</a:t>
            </a:r>
            <a:endParaRPr lang="en-US" sz="1000" dirty="0">
              <a:latin typeface="Roboto" panose="02000000000000000000" pitchFamily="2" charset="0"/>
              <a:ea typeface="Roboto" panose="02000000000000000000" pitchFamily="2" charset="0"/>
              <a:cs typeface="Roboto" panose="02000000000000000000" pitchFamily="2" charset="0"/>
            </a:endParaRPr>
          </a:p>
        </p:txBody>
      </p:sp>
      <p:sp>
        <p:nvSpPr>
          <p:cNvPr id="22" name="Text 18"/>
          <p:cNvSpPr txBox="1"/>
          <p:nvPr/>
        </p:nvSpPr>
        <p:spPr>
          <a:xfrm>
            <a:off x="548640" y="6492240"/>
            <a:ext cx="7315200" cy="274320"/>
          </a:xfrm>
          <a:prstGeom prst="rect">
            <a:avLst/>
          </a:prstGeom>
          <a:noFill/>
          <a:ln/>
        </p:spPr>
        <p:txBody>
          <a:bodyPr wrap="square" lIns="0" tIns="0" rIns="0" bIns="0" rtlCol="0" anchor="ctr"/>
          <a:lstStyle/>
          <a:p>
            <a:pPr marL="0" indent="0">
              <a:buNone/>
            </a:pPr>
            <a:r>
              <a:rPr lang="en-US" sz="850" dirty="0">
                <a:solidFill>
                  <a:srgbClr val="8C97A6"/>
                </a:solidFill>
                <a:latin typeface="Roboto" panose="02000000000000000000" pitchFamily="2" charset="0"/>
                <a:ea typeface="Roboto" panose="02000000000000000000" pitchFamily="2" charset="0"/>
                <a:cs typeface="Roboto" panose="02000000000000000000" pitchFamily="2" charset="0"/>
              </a:rPr>
              <a:t>MANUAL ON KNOTS — CDEM RESPONSE TEAM NZ-RT11</a:t>
            </a:r>
            <a:endParaRPr lang="en-US" sz="85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D9AB490-033B-4147-92FE-525AC433C291}">
  <ds:schemaRefs>
    <ds:schemaRef ds:uri="http://schemas.microsoft.com/sharepoint/v3/contenttype/forms"/>
  </ds:schemaRefs>
</ds:datastoreItem>
</file>

<file path=customXml/itemProps2.xml><?xml version="1.0" encoding="utf-8"?>
<ds:datastoreItem xmlns:ds="http://schemas.openxmlformats.org/officeDocument/2006/customXml" ds:itemID="{02214646-D872-4CD1-950B-8C8ACA0AE9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75EB31-18B9-4AA8-A149-83CEF8EA39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310</TotalTime>
  <Words>1907</Words>
  <Application>Microsoft Macintosh PowerPoint</Application>
  <PresentationFormat>Widescreen</PresentationFormat>
  <Paragraphs>159</Paragraphs>
  <Slides>15</Slides>
  <Notes>3</Notes>
  <HiddenSlides>0</HiddenSlides>
  <MMClips>12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Arial</vt:lpstr>
      <vt:lpstr>Bebas Neue</vt:lpstr>
      <vt:lpstr>Bebas Neue Bold</vt:lpstr>
      <vt:lpstr>Bierstadt</vt:lpstr>
      <vt:lpstr>Calibri</vt:lpstr>
      <vt:lpstr>Roboto</vt:lpstr>
      <vt:lpstr>Roboto Bold</vt:lpstr>
      <vt:lpstr>Bevel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Ebony Pike</dc:creator>
  <cp:lastModifiedBy>Ebony Pike</cp:lastModifiedBy>
  <cp:revision>7</cp:revision>
  <dcterms:created xsi:type="dcterms:W3CDTF">2026-08-31T21:55:52Z</dcterms:created>
  <dcterms:modified xsi:type="dcterms:W3CDTF">2026-09-25T06:27:17Z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